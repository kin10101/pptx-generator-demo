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extpedj\Desktop\PPTX-generator-demo\skill\erni-powerpoint-builder\assets\images\blue-geometric-triangles-61.jpg">    </p:cNvPr>
          <p:cNvPicPr>
            <a:picLocks noChangeAspect="1"/>
          </p:cNvPicPr>
          <p:nvPr/>
        </p:nvPicPr>
        <p:blipFill>
          <a:blip r:embed="rId1"/>
          <a:srcRect l="0" r="0" t="0" b="0"/>
          <a:stretch/>
        </p:blipFill>
        <p:spPr>
          <a:xfrm>
            <a:off x="6099048" y="0"/>
            <a:ext cx="6089904" cy="6858000"/>
          </a:xfrm>
          <a:prstGeom prst="rect">
            <a:avLst/>
          </a:prstGeom>
        </p:spPr>
      </p:pic>
      <p:sp>
        <p:nvSpPr>
          <p:cNvPr id="3" name="Text 0"/>
          <p:cNvSpPr/>
          <p:nvPr/>
        </p:nvSpPr>
        <p:spPr>
          <a:xfrm>
            <a:off x="731520" y="2194560"/>
            <a:ext cx="5029200" cy="1645920"/>
          </a:xfrm>
          <a:prstGeom prst="rect">
            <a:avLst/>
          </a:prstGeom>
          <a:noFill/>
          <a:ln/>
        </p:spPr>
        <p:txBody>
          <a:bodyPr wrap="square" rtlCol="0" anchor="b"/>
          <a:lstStyle/>
          <a:p>
            <a:pPr indent="0" marL="0">
              <a:buNone/>
            </a:pPr>
            <a:r>
              <a:rPr lang="en-US" sz="3600" b="1" dirty="0">
                <a:solidFill>
                  <a:srgbClr val="033778"/>
                </a:solidFill>
                <a:latin typeface="Source Sans Pro" pitchFamily="34" charset="0"/>
                <a:ea typeface="Source Sans Pro" pitchFamily="34" charset="-122"/>
                <a:cs typeface="Source Sans Pro" pitchFamily="34" charset="-120"/>
              </a:rPr>
              <a:t>How Sewage Treatment Plants Work</a:t>
            </a:r>
            <a:endParaRPr lang="en-US" sz="3600" dirty="0"/>
          </a:p>
        </p:txBody>
      </p:sp>
      <p:sp>
        <p:nvSpPr>
          <p:cNvPr id="4" name="Text 1"/>
          <p:cNvSpPr/>
          <p:nvPr/>
        </p:nvSpPr>
        <p:spPr>
          <a:xfrm>
            <a:off x="731520" y="4023360"/>
            <a:ext cx="5029200" cy="914400"/>
          </a:xfrm>
          <a:prstGeom prst="rect">
            <a:avLst/>
          </a:prstGeom>
          <a:noFill/>
          <a:ln/>
        </p:spPr>
        <p:txBody>
          <a:bodyPr wrap="square" rtlCol="0" anchor="ctr"/>
          <a:lstStyle/>
          <a:p>
            <a:pPr indent="0" marL="0">
              <a:buNone/>
            </a:pPr>
            <a:r>
              <a:rPr lang="en-US" sz="1800" dirty="0">
                <a:solidFill>
                  <a:srgbClr val="3C3C3B"/>
                </a:solidFill>
                <a:latin typeface="Source Sans Pro" pitchFamily="34" charset="0"/>
                <a:ea typeface="Source Sans Pro" pitchFamily="34" charset="-122"/>
                <a:cs typeface="Source Sans Pro" pitchFamily="34" charset="-120"/>
              </a:rPr>
              <a:t>An overview of the essential processes involved in treating wastewater.</a:t>
            </a:r>
            <a:endParaRPr lang="en-US" sz="18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Presentation Roadmap</a:t>
            </a:r>
            <a:endParaRPr lang="en-US" sz="2600" dirty="0"/>
          </a:p>
        </p:txBody>
      </p:sp>
      <p:sp>
        <p:nvSpPr>
          <p:cNvPr id="3" name="Text 1"/>
          <p:cNvSpPr/>
          <p:nvPr/>
        </p:nvSpPr>
        <p:spPr>
          <a:xfrm>
            <a:off x="731520" y="2103120"/>
            <a:ext cx="10725912" cy="146304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This presentation covers the following topics: Introduction, Primary Treatment, Secondary Treatment, Tertiary Treatment, and Conclusion.</a:t>
            </a:r>
            <a:endParaRPr lang="en-US" sz="1400" dirty="0"/>
          </a:p>
        </p:txBody>
      </p:sp>
      <p:sp>
        <p:nvSpPr>
          <p:cNvPr id="4"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5"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extpedj\Desktop\PPTX-generator-demo\skill\erni-powerpoint-builder\assets\images\green-palm-lines-79.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Introduction to Sewage Treatment</a:t>
            </a:r>
            <a:endParaRPr lang="en-US" sz="2600" dirty="0"/>
          </a:p>
        </p:txBody>
      </p:sp>
      <p:sp>
        <p:nvSpPr>
          <p:cNvPr id="4" name="Text 1"/>
          <p:cNvSpPr/>
          <p:nvPr/>
        </p:nvSpPr>
        <p:spPr>
          <a:xfrm>
            <a:off x="5943600" y="2103120"/>
            <a:ext cx="5486400" cy="182880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Sewage treatment is crucial for maintaining water quality and public health. It involves a series of processes to remove contaminants from wastewater. Effective treatment ensures that water is safe for discharge or reuse, preventing environmental pollution and protecting ecosystems.</a:t>
            </a:r>
            <a:endParaRPr lang="en-US" sz="14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extpedj\Desktop\PPTX-generator-demo\skill\erni-powerpoint-builder\assets\images\aqua-water-bubbles-84.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Primary Treatment</a:t>
            </a:r>
            <a:endParaRPr lang="en-US" sz="2600" dirty="0"/>
          </a:p>
        </p:txBody>
      </p:sp>
      <p:sp>
        <p:nvSpPr>
          <p:cNvPr id="4" name="Text 1"/>
          <p:cNvSpPr/>
          <p:nvPr/>
        </p:nvSpPr>
        <p:spPr>
          <a:xfrm>
            <a:off x="5943600" y="1645920"/>
            <a:ext cx="2560320" cy="438912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The primary treatment stage focuses on removing solid waste from sewage. This is achieved through screening, which captures large debris, and sedimentation, where solids settle at the bottom of treatment tanks. This process significantly reduces the load of pollutants entering subsequent treatment stages.</a:t>
            </a:r>
            <a:endParaRPr lang="en-US" sz="1200" dirty="0"/>
          </a:p>
        </p:txBody>
      </p:sp>
      <p:sp>
        <p:nvSpPr>
          <p:cNvPr id="5" name="Text 2"/>
          <p:cNvSpPr/>
          <p:nvPr/>
        </p:nvSpPr>
        <p:spPr>
          <a:xfrm>
            <a:off x="8869680" y="1645920"/>
            <a:ext cx="2560320" cy="4389120"/>
          </a:xfrm>
          <a:prstGeom prst="rect">
            <a:avLst/>
          </a:prstGeom>
          <a:noFill/>
          <a:ln/>
        </p:spPr>
        <p:txBody>
          <a:bodyPr wrap="square" rtlCol="0" anchor="t"/>
          <a:lstStyle/>
          <a:p>
            <a:pPr indent="0" marL="0">
              <a:buNone/>
            </a:pPr>
            <a:endParaRPr lang="en-US" sz="1200" dirty="0"/>
          </a:p>
        </p:txBody>
      </p:sp>
      <p:sp>
        <p:nvSpPr>
          <p:cNvPr id="6" name="Text 3"/>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7" name="Text 4"/>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Secondary Treatment</a:t>
            </a:r>
            <a:endParaRPr lang="en-US" sz="2600" dirty="0"/>
          </a:p>
        </p:txBody>
      </p:sp>
      <p:sp>
        <p:nvSpPr>
          <p:cNvPr id="3" name="Text 1"/>
          <p:cNvSpPr/>
          <p:nvPr/>
        </p:nvSpPr>
        <p:spPr>
          <a:xfrm>
            <a:off x="731520" y="2103120"/>
            <a:ext cx="5120640" cy="3840480"/>
          </a:xfrm>
          <a:prstGeom prst="rect">
            <a:avLst/>
          </a:prstGeom>
          <a:noFill/>
          <a:ln/>
        </p:spPr>
        <p:txBody>
          <a:bodyPr wrap="square" rtlCol="0" anchor="t"/>
          <a:lstStyle/>
          <a:p>
            <a:pPr indent="0" marL="0">
              <a:buNone/>
            </a:pPr>
            <a:r>
              <a:rPr lang="en-US" sz="1300" dirty="0">
                <a:solidFill>
                  <a:srgbClr val="3C3C3B"/>
                </a:solidFill>
                <a:latin typeface="Source Sans Pro" pitchFamily="34" charset="0"/>
                <a:ea typeface="Source Sans Pro" pitchFamily="34" charset="-122"/>
                <a:cs typeface="Source Sans Pro" pitchFamily="34" charset="-120"/>
              </a:rPr>
              <a:t>During secondary treatment, biological processes are employed to break down organic matter. Microorganisms consume organic pollutants, converting them into carbon dioxide, water, and energy. This stage is vital for reducing the biochemical oxygen demand (BOD) of the wastewater.</a:t>
            </a:r>
            <a:endParaRPr lang="en-US" sz="1300" dirty="0"/>
          </a:p>
        </p:txBody>
      </p:sp>
      <p:sp>
        <p:nvSpPr>
          <p:cNvPr id="4" name="Text 2"/>
          <p:cNvSpPr/>
          <p:nvPr/>
        </p:nvSpPr>
        <p:spPr>
          <a:xfrm>
            <a:off x="6309360" y="2103120"/>
            <a:ext cx="5120640" cy="3840480"/>
          </a:xfrm>
          <a:prstGeom prst="rect">
            <a:avLst/>
          </a:prstGeom>
          <a:noFill/>
          <a:ln/>
        </p:spPr>
        <p:txBody>
          <a:bodyPr wrap="square" rtlCol="0" anchor="t"/>
          <a:lstStyle/>
          <a:p>
            <a:pPr indent="0" marL="0">
              <a:buNone/>
            </a:pPr>
            <a:endParaRPr lang="en-US" sz="1300" dirty="0"/>
          </a:p>
        </p:txBody>
      </p:sp>
      <p:sp>
        <p:nvSpPr>
          <p:cNvPr id="5" name="Text 3"/>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4"/>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extpedj\Desktop\PPTX-generator-demo\skill\erni-powerpoint-builder\assets\images\icy-teal-foam-03.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Tertiary Treatment</a:t>
            </a:r>
            <a:endParaRPr lang="en-US" sz="2600" dirty="0"/>
          </a:p>
        </p:txBody>
      </p:sp>
      <p:sp>
        <p:nvSpPr>
          <p:cNvPr id="4" name="Text 1"/>
          <p:cNvSpPr/>
          <p:nvPr/>
        </p:nvSpPr>
        <p:spPr>
          <a:xfrm>
            <a:off x="5943600" y="2103120"/>
            <a:ext cx="5486400" cy="182880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Tertiary treatment involves advanced filtration and chemical processes to remove remaining impurities. This stage often includes disinfection to eliminate pathogens, ensuring the treated water is safe for discharge or reuse. Tertiary treatment enhances water quality and reduces environmental impact.</a:t>
            </a:r>
            <a:endParaRPr lang="en-US" sz="14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Complete Treatment Process</a:t>
            </a:r>
            <a:endParaRPr lang="en-US" sz="2600" dirty="0"/>
          </a:p>
        </p:txBody>
      </p:sp>
      <p:sp>
        <p:nvSpPr>
          <p:cNvPr id="3" name="Shape 1"/>
          <p:cNvSpPr/>
          <p:nvPr/>
        </p:nvSpPr>
        <p:spPr>
          <a:xfrm>
            <a:off x="1729359" y="2286000"/>
            <a:ext cx="548640" cy="548640"/>
          </a:xfrm>
          <a:prstGeom prst="ellipse">
            <a:avLst/>
          </a:prstGeom>
          <a:solidFill>
            <a:srgbClr val="033778"/>
          </a:solidFill>
          <a:ln/>
        </p:spPr>
      </p:sp>
      <p:sp>
        <p:nvSpPr>
          <p:cNvPr id="4" name="Text 2"/>
          <p:cNvSpPr/>
          <p:nvPr/>
        </p:nvSpPr>
        <p:spPr>
          <a:xfrm>
            <a:off x="1729359"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1</a:t>
            </a:r>
            <a:endParaRPr lang="en-US" sz="1600" dirty="0"/>
          </a:p>
        </p:txBody>
      </p:sp>
      <p:sp>
        <p:nvSpPr>
          <p:cNvPr id="5" name="Shape 3"/>
          <p:cNvSpPr/>
          <p:nvPr/>
        </p:nvSpPr>
        <p:spPr>
          <a:xfrm>
            <a:off x="3294126" y="2560320"/>
            <a:ext cx="146304" cy="0"/>
          </a:xfrm>
          <a:prstGeom prst="line">
            <a:avLst/>
          </a:prstGeom>
          <a:noFill/>
          <a:ln w="19050">
            <a:solidFill>
              <a:srgbClr val="033778"/>
            </a:solidFill>
            <a:prstDash val="solid"/>
          </a:ln>
        </p:spPr>
      </p:sp>
      <p:sp>
        <p:nvSpPr>
          <p:cNvPr id="6" name="Text 4"/>
          <p:cNvSpPr/>
          <p:nvPr/>
        </p:nvSpPr>
        <p:spPr>
          <a:xfrm>
            <a:off x="731520" y="3017520"/>
            <a:ext cx="254431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Raw Sewage</a:t>
            </a:r>
            <a:endParaRPr lang="en-US" sz="1300" dirty="0"/>
          </a:p>
        </p:txBody>
      </p:sp>
      <p:sp>
        <p:nvSpPr>
          <p:cNvPr id="7" name="Text 5"/>
          <p:cNvSpPr/>
          <p:nvPr/>
        </p:nvSpPr>
        <p:spPr>
          <a:xfrm>
            <a:off x="731520" y="3566160"/>
            <a:ext cx="254431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Collection and initial screening of wastewater.</a:t>
            </a:r>
            <a:endParaRPr lang="en-US" sz="1100" dirty="0"/>
          </a:p>
        </p:txBody>
      </p:sp>
      <p:sp>
        <p:nvSpPr>
          <p:cNvPr id="8" name="Shape 6"/>
          <p:cNvSpPr/>
          <p:nvPr/>
        </p:nvSpPr>
        <p:spPr>
          <a:xfrm>
            <a:off x="4456557" y="2286000"/>
            <a:ext cx="548640" cy="548640"/>
          </a:xfrm>
          <a:prstGeom prst="ellipse">
            <a:avLst/>
          </a:prstGeom>
          <a:solidFill>
            <a:srgbClr val="033778"/>
          </a:solidFill>
          <a:ln/>
        </p:spPr>
      </p:sp>
      <p:sp>
        <p:nvSpPr>
          <p:cNvPr id="9" name="Text 7"/>
          <p:cNvSpPr/>
          <p:nvPr/>
        </p:nvSpPr>
        <p:spPr>
          <a:xfrm>
            <a:off x="4456557"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2</a:t>
            </a:r>
            <a:endParaRPr lang="en-US" sz="1600" dirty="0"/>
          </a:p>
        </p:txBody>
      </p:sp>
      <p:sp>
        <p:nvSpPr>
          <p:cNvPr id="10" name="Shape 8"/>
          <p:cNvSpPr/>
          <p:nvPr/>
        </p:nvSpPr>
        <p:spPr>
          <a:xfrm>
            <a:off x="6021324" y="2560320"/>
            <a:ext cx="146304" cy="0"/>
          </a:xfrm>
          <a:prstGeom prst="line">
            <a:avLst/>
          </a:prstGeom>
          <a:noFill/>
          <a:ln w="19050">
            <a:solidFill>
              <a:srgbClr val="033778"/>
            </a:solidFill>
            <a:prstDash val="solid"/>
          </a:ln>
        </p:spPr>
      </p:sp>
      <p:sp>
        <p:nvSpPr>
          <p:cNvPr id="11" name="Text 9"/>
          <p:cNvSpPr/>
          <p:nvPr/>
        </p:nvSpPr>
        <p:spPr>
          <a:xfrm>
            <a:off x="3458718" y="3017520"/>
            <a:ext cx="254431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Primary Treatment</a:t>
            </a:r>
            <a:endParaRPr lang="en-US" sz="1300" dirty="0"/>
          </a:p>
        </p:txBody>
      </p:sp>
      <p:sp>
        <p:nvSpPr>
          <p:cNvPr id="12" name="Text 10"/>
          <p:cNvSpPr/>
          <p:nvPr/>
        </p:nvSpPr>
        <p:spPr>
          <a:xfrm>
            <a:off x="3458718" y="3566160"/>
            <a:ext cx="254431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Separation of solids through sedimentation.</a:t>
            </a:r>
            <a:endParaRPr lang="en-US" sz="1100" dirty="0"/>
          </a:p>
        </p:txBody>
      </p:sp>
      <p:sp>
        <p:nvSpPr>
          <p:cNvPr id="13" name="Shape 11"/>
          <p:cNvSpPr/>
          <p:nvPr/>
        </p:nvSpPr>
        <p:spPr>
          <a:xfrm>
            <a:off x="7183755" y="2286000"/>
            <a:ext cx="548640" cy="548640"/>
          </a:xfrm>
          <a:prstGeom prst="ellipse">
            <a:avLst/>
          </a:prstGeom>
          <a:solidFill>
            <a:srgbClr val="033778"/>
          </a:solidFill>
          <a:ln/>
        </p:spPr>
      </p:sp>
      <p:sp>
        <p:nvSpPr>
          <p:cNvPr id="14" name="Text 12"/>
          <p:cNvSpPr/>
          <p:nvPr/>
        </p:nvSpPr>
        <p:spPr>
          <a:xfrm>
            <a:off x="7183755"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3</a:t>
            </a:r>
            <a:endParaRPr lang="en-US" sz="1600" dirty="0"/>
          </a:p>
        </p:txBody>
      </p:sp>
      <p:sp>
        <p:nvSpPr>
          <p:cNvPr id="15" name="Shape 13"/>
          <p:cNvSpPr/>
          <p:nvPr/>
        </p:nvSpPr>
        <p:spPr>
          <a:xfrm>
            <a:off x="8748522" y="2560320"/>
            <a:ext cx="146304" cy="0"/>
          </a:xfrm>
          <a:prstGeom prst="line">
            <a:avLst/>
          </a:prstGeom>
          <a:noFill/>
          <a:ln w="19050">
            <a:solidFill>
              <a:srgbClr val="033778"/>
            </a:solidFill>
            <a:prstDash val="solid"/>
          </a:ln>
        </p:spPr>
      </p:sp>
      <p:sp>
        <p:nvSpPr>
          <p:cNvPr id="16" name="Text 14"/>
          <p:cNvSpPr/>
          <p:nvPr/>
        </p:nvSpPr>
        <p:spPr>
          <a:xfrm>
            <a:off x="6185916" y="3017520"/>
            <a:ext cx="254431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Secondary Treatment</a:t>
            </a:r>
            <a:endParaRPr lang="en-US" sz="1300" dirty="0"/>
          </a:p>
        </p:txBody>
      </p:sp>
      <p:sp>
        <p:nvSpPr>
          <p:cNvPr id="17" name="Text 15"/>
          <p:cNvSpPr/>
          <p:nvPr/>
        </p:nvSpPr>
        <p:spPr>
          <a:xfrm>
            <a:off x="6185916" y="3566160"/>
            <a:ext cx="254431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Biological degradation of organic matter.</a:t>
            </a:r>
            <a:endParaRPr lang="en-US" sz="1100" dirty="0"/>
          </a:p>
        </p:txBody>
      </p:sp>
      <p:sp>
        <p:nvSpPr>
          <p:cNvPr id="18" name="Shape 16"/>
          <p:cNvSpPr/>
          <p:nvPr/>
        </p:nvSpPr>
        <p:spPr>
          <a:xfrm>
            <a:off x="9910953" y="2286000"/>
            <a:ext cx="548640" cy="548640"/>
          </a:xfrm>
          <a:prstGeom prst="ellipse">
            <a:avLst/>
          </a:prstGeom>
          <a:solidFill>
            <a:srgbClr val="033778"/>
          </a:solidFill>
          <a:ln/>
        </p:spPr>
      </p:sp>
      <p:sp>
        <p:nvSpPr>
          <p:cNvPr id="19" name="Text 17"/>
          <p:cNvSpPr/>
          <p:nvPr/>
        </p:nvSpPr>
        <p:spPr>
          <a:xfrm>
            <a:off x="9910953" y="2286000"/>
            <a:ext cx="548640" cy="548640"/>
          </a:xfrm>
          <a:prstGeom prst="rect">
            <a:avLst/>
          </a:prstGeom>
          <a:noFill/>
          <a:ln/>
        </p:spPr>
        <p:txBody>
          <a:bodyPr wrap="square" rtlCol="0" anchor="ctr"/>
          <a:lstStyle/>
          <a:p>
            <a:pPr algn="ctr" indent="0" marL="0">
              <a:buNone/>
            </a:pPr>
            <a:r>
              <a:rPr lang="en-US" sz="1600" b="1" dirty="0">
                <a:solidFill>
                  <a:srgbClr val="FFFFFF"/>
                </a:solidFill>
                <a:latin typeface="Source Sans Pro" pitchFamily="34" charset="0"/>
                <a:ea typeface="Source Sans Pro" pitchFamily="34" charset="-122"/>
                <a:cs typeface="Source Sans Pro" pitchFamily="34" charset="-120"/>
              </a:rPr>
              <a:t>4</a:t>
            </a:r>
            <a:endParaRPr lang="en-US" sz="1600" dirty="0"/>
          </a:p>
        </p:txBody>
      </p:sp>
      <p:sp>
        <p:nvSpPr>
          <p:cNvPr id="20" name="Text 18"/>
          <p:cNvSpPr/>
          <p:nvPr/>
        </p:nvSpPr>
        <p:spPr>
          <a:xfrm>
            <a:off x="8913114" y="3017520"/>
            <a:ext cx="2544318" cy="457200"/>
          </a:xfrm>
          <a:prstGeom prst="rect">
            <a:avLst/>
          </a:prstGeom>
          <a:noFill/>
          <a:ln/>
        </p:spPr>
        <p:txBody>
          <a:bodyPr wrap="square" rtlCol="0" anchor="ctr"/>
          <a:lstStyle/>
          <a:p>
            <a:pPr algn="ctr" indent="0" marL="0">
              <a:buNone/>
            </a:pPr>
            <a:r>
              <a:rPr lang="en-US" sz="1300" b="1" dirty="0">
                <a:solidFill>
                  <a:srgbClr val="033778"/>
                </a:solidFill>
                <a:latin typeface="Source Sans Pro" pitchFamily="34" charset="0"/>
                <a:ea typeface="Source Sans Pro" pitchFamily="34" charset="-122"/>
                <a:cs typeface="Source Sans Pro" pitchFamily="34" charset="-120"/>
              </a:rPr>
              <a:t>Tertiary Treatment</a:t>
            </a:r>
            <a:endParaRPr lang="en-US" sz="1300" dirty="0"/>
          </a:p>
        </p:txBody>
      </p:sp>
      <p:sp>
        <p:nvSpPr>
          <p:cNvPr id="21" name="Text 19"/>
          <p:cNvSpPr/>
          <p:nvPr/>
        </p:nvSpPr>
        <p:spPr>
          <a:xfrm>
            <a:off x="8913114" y="3566160"/>
            <a:ext cx="2544318" cy="2560320"/>
          </a:xfrm>
          <a:prstGeom prst="rect">
            <a:avLst/>
          </a:prstGeom>
          <a:noFill/>
          <a:ln/>
        </p:spPr>
        <p:txBody>
          <a:bodyPr wrap="square" rtlCol="0" anchor="t"/>
          <a:lstStyle/>
          <a:p>
            <a:pPr algn="ctr" indent="0" marL="0">
              <a:buNone/>
            </a:pPr>
            <a:r>
              <a:rPr lang="en-US" sz="1100" dirty="0">
                <a:solidFill>
                  <a:srgbClr val="3C3C3B"/>
                </a:solidFill>
                <a:latin typeface="Source Sans Pro" pitchFamily="34" charset="0"/>
                <a:ea typeface="Source Sans Pro" pitchFamily="34" charset="-122"/>
                <a:cs typeface="Source Sans Pro" pitchFamily="34" charset="-120"/>
              </a:rPr>
              <a:t>Advanced filtration and disinfection.</a:t>
            </a:r>
            <a:endParaRPr lang="en-US" sz="1100" dirty="0"/>
          </a:p>
        </p:txBody>
      </p:sp>
      <p:sp>
        <p:nvSpPr>
          <p:cNvPr id="22" name="Text 20"/>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23" name="Text 21"/>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Performance Metrics</a:t>
            </a:r>
            <a:endParaRPr lang="en-US" sz="2600" dirty="0"/>
          </a:p>
        </p:txBody>
      </p:sp>
      <p:sp>
        <p:nvSpPr>
          <p:cNvPr id="3" name="Shape 1"/>
          <p:cNvSpPr/>
          <p:nvPr/>
        </p:nvSpPr>
        <p:spPr>
          <a:xfrm>
            <a:off x="731520" y="1645920"/>
            <a:ext cx="3291840" cy="2011680"/>
          </a:xfrm>
          <a:prstGeom prst="rect">
            <a:avLst>
              <a:gd name="adj" fmla="val 2273"/>
            </a:avLst>
          </a:prstGeom>
          <a:solidFill>
            <a:srgbClr val="F5F5F5"/>
          </a:solidFill>
          <a:ln/>
        </p:spPr>
      </p:sp>
      <p:sp>
        <p:nvSpPr>
          <p:cNvPr id="4" name="Text 2"/>
          <p:cNvSpPr/>
          <p:nvPr/>
        </p:nvSpPr>
        <p:spPr>
          <a:xfrm>
            <a:off x="731520" y="1920240"/>
            <a:ext cx="3291840" cy="822960"/>
          </a:xfrm>
          <a:prstGeom prst="rect">
            <a:avLst/>
          </a:prstGeom>
          <a:noFill/>
          <a:ln/>
        </p:spPr>
        <p:txBody>
          <a:bodyPr wrap="square" rtlCol="0" anchor="ctr"/>
          <a:lstStyle/>
          <a:p>
            <a:pPr algn="ctr" indent="0" marL="0">
              <a:buNone/>
            </a:pPr>
            <a:r>
              <a:rPr lang="en-US" sz="3400" b="1" dirty="0">
                <a:solidFill>
                  <a:srgbClr val="033778"/>
                </a:solidFill>
                <a:latin typeface="Source Sans Pro" pitchFamily="34" charset="0"/>
                <a:ea typeface="Source Sans Pro" pitchFamily="34" charset="-122"/>
                <a:cs typeface="Source Sans Pro" pitchFamily="34" charset="-120"/>
              </a:rPr>
              <a:t>95%</a:t>
            </a:r>
            <a:endParaRPr lang="en-US" sz="3400" dirty="0"/>
          </a:p>
        </p:txBody>
      </p:sp>
      <p:sp>
        <p:nvSpPr>
          <p:cNvPr id="5" name="Text 3"/>
          <p:cNvSpPr/>
          <p:nvPr/>
        </p:nvSpPr>
        <p:spPr>
          <a:xfrm>
            <a:off x="731520" y="2743200"/>
            <a:ext cx="3291840" cy="731520"/>
          </a:xfrm>
          <a:prstGeom prst="rect">
            <a:avLst/>
          </a:prstGeom>
          <a:noFill/>
          <a:ln/>
        </p:spPr>
        <p:txBody>
          <a:bodyPr wrap="square" rtlCol="0" anchor="t"/>
          <a:lstStyle/>
          <a:p>
            <a:pPr algn="ctr" indent="0" marL="0">
              <a:buNone/>
            </a:pPr>
            <a:r>
              <a:rPr lang="en-US" sz="1300" dirty="0">
                <a:solidFill>
                  <a:srgbClr val="3C3C3B"/>
                </a:solidFill>
                <a:latin typeface="Source Sans Pro" pitchFamily="34" charset="0"/>
                <a:ea typeface="Source Sans Pro" pitchFamily="34" charset="-122"/>
                <a:cs typeface="Source Sans Pro" pitchFamily="34" charset="-120"/>
              </a:rPr>
              <a:t>Treatment Efficiency</a:t>
            </a:r>
            <a:endParaRPr lang="en-US" sz="1300" dirty="0"/>
          </a:p>
        </p:txBody>
      </p:sp>
      <p:sp>
        <p:nvSpPr>
          <p:cNvPr id="6" name="Shape 4"/>
          <p:cNvSpPr/>
          <p:nvPr/>
        </p:nvSpPr>
        <p:spPr>
          <a:xfrm>
            <a:off x="4343400" y="1645920"/>
            <a:ext cx="3291840" cy="2011680"/>
          </a:xfrm>
          <a:prstGeom prst="rect">
            <a:avLst>
              <a:gd name="adj" fmla="val 2273"/>
            </a:avLst>
          </a:prstGeom>
          <a:solidFill>
            <a:srgbClr val="F5F5F5"/>
          </a:solidFill>
          <a:ln/>
        </p:spPr>
      </p:sp>
      <p:sp>
        <p:nvSpPr>
          <p:cNvPr id="7" name="Text 5"/>
          <p:cNvSpPr/>
          <p:nvPr/>
        </p:nvSpPr>
        <p:spPr>
          <a:xfrm>
            <a:off x="4343400" y="1920240"/>
            <a:ext cx="3291840" cy="822960"/>
          </a:xfrm>
          <a:prstGeom prst="rect">
            <a:avLst/>
          </a:prstGeom>
          <a:noFill/>
          <a:ln/>
        </p:spPr>
        <p:txBody>
          <a:bodyPr wrap="square" rtlCol="0" anchor="ctr"/>
          <a:lstStyle/>
          <a:p>
            <a:pPr algn="ctr" indent="0" marL="0">
              <a:buNone/>
            </a:pPr>
            <a:r>
              <a:rPr lang="en-US" sz="3400" b="1" dirty="0">
                <a:solidFill>
                  <a:srgbClr val="033778"/>
                </a:solidFill>
                <a:latin typeface="Source Sans Pro" pitchFamily="34" charset="0"/>
                <a:ea typeface="Source Sans Pro" pitchFamily="34" charset="-122"/>
                <a:cs typeface="Source Sans Pro" pitchFamily="34" charset="-120"/>
              </a:rPr>
              <a:t>$0.50/m³</a:t>
            </a:r>
            <a:endParaRPr lang="en-US" sz="3400" dirty="0"/>
          </a:p>
        </p:txBody>
      </p:sp>
      <p:sp>
        <p:nvSpPr>
          <p:cNvPr id="8" name="Text 6"/>
          <p:cNvSpPr/>
          <p:nvPr/>
        </p:nvSpPr>
        <p:spPr>
          <a:xfrm>
            <a:off x="4343400" y="2743200"/>
            <a:ext cx="3291840" cy="731520"/>
          </a:xfrm>
          <a:prstGeom prst="rect">
            <a:avLst/>
          </a:prstGeom>
          <a:noFill/>
          <a:ln/>
        </p:spPr>
        <p:txBody>
          <a:bodyPr wrap="square" rtlCol="0" anchor="t"/>
          <a:lstStyle/>
          <a:p>
            <a:pPr algn="ctr" indent="0" marL="0">
              <a:buNone/>
            </a:pPr>
            <a:r>
              <a:rPr lang="en-US" sz="1300" dirty="0">
                <a:solidFill>
                  <a:srgbClr val="3C3C3B"/>
                </a:solidFill>
                <a:latin typeface="Source Sans Pro" pitchFamily="34" charset="0"/>
                <a:ea typeface="Source Sans Pro" pitchFamily="34" charset="-122"/>
                <a:cs typeface="Source Sans Pro" pitchFamily="34" charset="-120"/>
              </a:rPr>
              <a:t>Cost per Cubic Meter</a:t>
            </a:r>
            <a:endParaRPr lang="en-US" sz="1300" dirty="0"/>
          </a:p>
        </p:txBody>
      </p:sp>
      <p:sp>
        <p:nvSpPr>
          <p:cNvPr id="9" name="Shape 7"/>
          <p:cNvSpPr/>
          <p:nvPr/>
        </p:nvSpPr>
        <p:spPr>
          <a:xfrm>
            <a:off x="7955280" y="1645920"/>
            <a:ext cx="3291840" cy="2011680"/>
          </a:xfrm>
          <a:prstGeom prst="rect">
            <a:avLst>
              <a:gd name="adj" fmla="val 2273"/>
            </a:avLst>
          </a:prstGeom>
          <a:solidFill>
            <a:srgbClr val="F5F5F5"/>
          </a:solidFill>
          <a:ln/>
        </p:spPr>
      </p:sp>
      <p:sp>
        <p:nvSpPr>
          <p:cNvPr id="10" name="Text 8"/>
          <p:cNvSpPr/>
          <p:nvPr/>
        </p:nvSpPr>
        <p:spPr>
          <a:xfrm>
            <a:off x="7955280" y="1920240"/>
            <a:ext cx="3291840" cy="822960"/>
          </a:xfrm>
          <a:prstGeom prst="rect">
            <a:avLst/>
          </a:prstGeom>
          <a:noFill/>
          <a:ln/>
        </p:spPr>
        <p:txBody>
          <a:bodyPr wrap="square" rtlCol="0" anchor="ctr"/>
          <a:lstStyle/>
          <a:p>
            <a:pPr algn="ctr" indent="0" marL="0">
              <a:buNone/>
            </a:pPr>
            <a:r>
              <a:rPr lang="en-US" sz="3400" b="1" dirty="0">
                <a:solidFill>
                  <a:srgbClr val="033778"/>
                </a:solidFill>
                <a:latin typeface="Source Sans Pro" pitchFamily="34" charset="0"/>
                <a:ea typeface="Source Sans Pro" pitchFamily="34" charset="-122"/>
                <a:cs typeface="Source Sans Pro" pitchFamily="34" charset="-120"/>
              </a:rPr>
              <a:t>99%</a:t>
            </a:r>
            <a:endParaRPr lang="en-US" sz="3400" dirty="0"/>
          </a:p>
        </p:txBody>
      </p:sp>
      <p:sp>
        <p:nvSpPr>
          <p:cNvPr id="11" name="Text 9"/>
          <p:cNvSpPr/>
          <p:nvPr/>
        </p:nvSpPr>
        <p:spPr>
          <a:xfrm>
            <a:off x="7955280" y="2743200"/>
            <a:ext cx="3291840" cy="731520"/>
          </a:xfrm>
          <a:prstGeom prst="rect">
            <a:avLst/>
          </a:prstGeom>
          <a:noFill/>
          <a:ln/>
        </p:spPr>
        <p:txBody>
          <a:bodyPr wrap="square" rtlCol="0" anchor="t"/>
          <a:lstStyle/>
          <a:p>
            <a:pPr algn="ctr" indent="0" marL="0">
              <a:buNone/>
            </a:pPr>
            <a:r>
              <a:rPr lang="en-US" sz="1300" dirty="0">
                <a:solidFill>
                  <a:srgbClr val="3C3C3B"/>
                </a:solidFill>
                <a:latin typeface="Source Sans Pro" pitchFamily="34" charset="0"/>
                <a:ea typeface="Source Sans Pro" pitchFamily="34" charset="-122"/>
                <a:cs typeface="Source Sans Pro" pitchFamily="34" charset="-120"/>
              </a:rPr>
              <a:t>Pathogen Removal</a:t>
            </a:r>
            <a:endParaRPr lang="en-US" sz="1300" dirty="0"/>
          </a:p>
        </p:txBody>
      </p:sp>
      <p:sp>
        <p:nvSpPr>
          <p:cNvPr id="12" name="Shape 10"/>
          <p:cNvSpPr/>
          <p:nvPr/>
        </p:nvSpPr>
        <p:spPr>
          <a:xfrm>
            <a:off x="731520" y="3977640"/>
            <a:ext cx="3291840" cy="2011680"/>
          </a:xfrm>
          <a:prstGeom prst="rect">
            <a:avLst>
              <a:gd name="adj" fmla="val 2273"/>
            </a:avLst>
          </a:prstGeom>
          <a:solidFill>
            <a:srgbClr val="F5F5F5"/>
          </a:solidFill>
          <a:ln/>
        </p:spPr>
      </p:sp>
      <p:sp>
        <p:nvSpPr>
          <p:cNvPr id="13" name="Text 11"/>
          <p:cNvSpPr/>
          <p:nvPr/>
        </p:nvSpPr>
        <p:spPr>
          <a:xfrm>
            <a:off x="731520" y="4251960"/>
            <a:ext cx="3291840" cy="822960"/>
          </a:xfrm>
          <a:prstGeom prst="rect">
            <a:avLst/>
          </a:prstGeom>
          <a:noFill/>
          <a:ln/>
        </p:spPr>
        <p:txBody>
          <a:bodyPr wrap="square" rtlCol="0" anchor="ctr"/>
          <a:lstStyle/>
          <a:p>
            <a:pPr algn="ctr" indent="0" marL="0">
              <a:buNone/>
            </a:pPr>
            <a:r>
              <a:rPr lang="en-US" sz="3400" b="1" dirty="0">
                <a:solidFill>
                  <a:srgbClr val="033778"/>
                </a:solidFill>
                <a:latin typeface="Source Sans Pro" pitchFamily="34" charset="0"/>
                <a:ea typeface="Source Sans Pro" pitchFamily="34" charset="-122"/>
                <a:cs typeface="Source Sans Pro" pitchFamily="34" charset="-120"/>
              </a:rPr>
              <a:t>0.1 mg/L</a:t>
            </a:r>
            <a:endParaRPr lang="en-US" sz="3400" dirty="0"/>
          </a:p>
        </p:txBody>
      </p:sp>
      <p:sp>
        <p:nvSpPr>
          <p:cNvPr id="14" name="Text 12"/>
          <p:cNvSpPr/>
          <p:nvPr/>
        </p:nvSpPr>
        <p:spPr>
          <a:xfrm>
            <a:off x="731520" y="5074920"/>
            <a:ext cx="3291840" cy="731520"/>
          </a:xfrm>
          <a:prstGeom prst="rect">
            <a:avLst/>
          </a:prstGeom>
          <a:noFill/>
          <a:ln/>
        </p:spPr>
        <p:txBody>
          <a:bodyPr wrap="square" rtlCol="0" anchor="t"/>
          <a:lstStyle/>
          <a:p>
            <a:pPr algn="ctr" indent="0" marL="0">
              <a:buNone/>
            </a:pPr>
            <a:r>
              <a:rPr lang="en-US" sz="1300" dirty="0">
                <a:solidFill>
                  <a:srgbClr val="3C3C3B"/>
                </a:solidFill>
                <a:latin typeface="Source Sans Pro" pitchFamily="34" charset="0"/>
                <a:ea typeface="Source Sans Pro" pitchFamily="34" charset="-122"/>
                <a:cs typeface="Source Sans Pro" pitchFamily="34" charset="-120"/>
              </a:rPr>
              <a:t>Residual Chlorine</a:t>
            </a:r>
            <a:endParaRPr lang="en-US" sz="1300" dirty="0"/>
          </a:p>
        </p:txBody>
      </p:sp>
      <p:sp>
        <p:nvSpPr>
          <p:cNvPr id="15" name="Text 13"/>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16" name="Text 14"/>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Future of Sewage Treatment</a:t>
            </a:r>
            <a:endParaRPr lang="en-US" sz="2600" dirty="0"/>
          </a:p>
        </p:txBody>
      </p:sp>
      <p:sp>
        <p:nvSpPr>
          <p:cNvPr id="3" name="Text 1"/>
          <p:cNvSpPr/>
          <p:nvPr/>
        </p:nvSpPr>
        <p:spPr>
          <a:xfrm>
            <a:off x="731520" y="2103120"/>
            <a:ext cx="10725912" cy="146304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Innovations in sewage treatment are focusing on energy efficiency and resource recovery. Emerging technologies include membrane bioreactors, advanced oxidation processes, and nutrient recovery systems. These advancements aim to enhance sustainability and reduce the environmental footprint of wastewater management.</a:t>
            </a:r>
            <a:endParaRPr lang="en-US" sz="1400" dirty="0"/>
          </a:p>
        </p:txBody>
      </p:sp>
      <p:sp>
        <p:nvSpPr>
          <p:cNvPr id="4"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5"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286000"/>
            <a:ext cx="10360152" cy="914400"/>
          </a:xfrm>
          <a:prstGeom prst="rect">
            <a:avLst/>
          </a:prstGeom>
          <a:noFill/>
          <a:ln/>
        </p:spPr>
        <p:txBody>
          <a:bodyPr wrap="square" rtlCol="0" anchor="ctr"/>
          <a:lstStyle/>
          <a:p>
            <a:pPr algn="ctr" indent="0" marL="0">
              <a:buNone/>
            </a:pPr>
            <a:r>
              <a:rPr lang="en-US" sz="2800" b="1" dirty="0">
                <a:solidFill>
                  <a:srgbClr val="033778"/>
                </a:solidFill>
                <a:latin typeface="Source Sans Pro" pitchFamily="34" charset="0"/>
                <a:ea typeface="Source Sans Pro" pitchFamily="34" charset="-122"/>
                <a:cs typeface="Source Sans Pro" pitchFamily="34" charset="-120"/>
              </a:rPr>
              <a:t>Conclusion and Q&amp;A</a:t>
            </a:r>
            <a:endParaRPr lang="en-US" sz="2800" dirty="0"/>
          </a:p>
        </p:txBody>
      </p:sp>
      <p:sp>
        <p:nvSpPr>
          <p:cNvPr id="3" name="Text 1"/>
          <p:cNvSpPr/>
          <p:nvPr/>
        </p:nvSpPr>
        <p:spPr>
          <a:xfrm>
            <a:off x="2286000" y="3383280"/>
            <a:ext cx="7616952" cy="1828800"/>
          </a:xfrm>
          <a:prstGeom prst="rect">
            <a:avLst/>
          </a:prstGeom>
          <a:noFill/>
          <a:ln/>
        </p:spPr>
        <p:txBody>
          <a:bodyPr wrap="square" rtlCol="0" anchor="t"/>
          <a:lstStyle/>
          <a:p>
            <a:pPr algn="ctr" indent="0" marL="0">
              <a:buNone/>
            </a:pPr>
            <a:r>
              <a:rPr lang="en-US" sz="1400" dirty="0">
                <a:solidFill>
                  <a:srgbClr val="3C3C3B"/>
                </a:solidFill>
                <a:latin typeface="Source Sans Pro" pitchFamily="34" charset="0"/>
                <a:ea typeface="Source Sans Pro" pitchFamily="34" charset="-122"/>
                <a:cs typeface="Source Sans Pro" pitchFamily="34" charset="-120"/>
              </a:rPr>
              <a:t>Effective sewage treatment is essential for environmental protection and public health. By understanding and improving treatment processes, we can ensure safe water management. Thank you for your attention. Please feel free to ask any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Sewage Treatment Processes</dc:title>
  <dc:subject>PptxGenJS Presentation</dc:subject>
  <dc:creator>ERNI PPTX Generator</dc:creator>
  <cp:lastModifiedBy>ERNI PPTX Generator</cp:lastModifiedBy>
  <cp:revision>1</cp:revision>
  <dcterms:created xsi:type="dcterms:W3CDTF">2026-06-10T09:14:04Z</dcterms:created>
  <dcterms:modified xsi:type="dcterms:W3CDTF">2026-06-10T09:14:04Z</dcterms:modified>
</cp:coreProperties>
</file>