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extpedj\Desktop\PPTX-generator-demo\skill\erni-powerpoint-builder\assets\images\green-palm-lines-79.jpg">    </p:cNvPr>
          <p:cNvPicPr>
            <a:picLocks noChangeAspect="1"/>
          </p:cNvPicPr>
          <p:nvPr/>
        </p:nvPicPr>
        <p:blipFill>
          <a:blip r:embed="rId1"/>
          <a:srcRect l="0" r="0" t="0" b="0"/>
          <a:stretch/>
        </p:blipFill>
        <p:spPr>
          <a:xfrm>
            <a:off x="4572000" y="0"/>
            <a:ext cx="4572000" cy="5143500"/>
          </a:xfrm>
          <a:prstGeom prst="rect">
            <a:avLst/>
          </a:prstGeom>
        </p:spPr>
      </p:pic>
      <p:sp>
        <p:nvSpPr>
          <p:cNvPr id="3" name="Text 0"/>
          <p:cNvSpPr/>
          <p:nvPr/>
        </p:nvSpPr>
        <p:spPr>
          <a:xfrm>
            <a:off x="548640" y="1645920"/>
            <a:ext cx="3840480" cy="1280160"/>
          </a:xfrm>
          <a:prstGeom prst="rect">
            <a:avLst/>
          </a:prstGeom>
          <a:noFill/>
          <a:ln/>
        </p:spPr>
        <p:txBody>
          <a:bodyPr wrap="square" rtlCol="0" anchor="b"/>
          <a:lstStyle/>
          <a:p>
            <a:pPr indent="0" marL="0">
              <a:buNone/>
            </a:pPr>
            <a:r>
              <a:rPr lang="en-US" sz="3200" b="1" dirty="0">
                <a:solidFill>
                  <a:srgbClr val="033778"/>
                </a:solidFill>
                <a:latin typeface="Source Sans Pro" pitchFamily="34" charset="0"/>
                <a:ea typeface="Source Sans Pro" pitchFamily="34" charset="-122"/>
                <a:cs typeface="Source Sans Pro" pitchFamily="34" charset="-120"/>
              </a:rPr>
              <a:t>The Fascinating Lifecycle of Frogs</a:t>
            </a:r>
            <a:endParaRPr lang="en-US" sz="3200" dirty="0"/>
          </a:p>
        </p:txBody>
      </p:sp>
      <p:sp>
        <p:nvSpPr>
          <p:cNvPr id="4" name="Text 1"/>
          <p:cNvSpPr/>
          <p:nvPr/>
        </p:nvSpPr>
        <p:spPr>
          <a:xfrm>
            <a:off x="548640" y="3017520"/>
            <a:ext cx="3840480" cy="731520"/>
          </a:xfrm>
          <a:prstGeom prst="rect">
            <a:avLst/>
          </a:prstGeom>
          <a:noFill/>
          <a:ln/>
        </p:spPr>
        <p:txBody>
          <a:bodyPr wrap="square" rtlCol="0" anchor="ctr"/>
          <a:lstStyle/>
          <a:p>
            <a:pPr indent="0" marL="0">
              <a:buNone/>
            </a:pPr>
            <a:r>
              <a:rPr lang="en-US" sz="1600" dirty="0">
                <a:solidFill>
                  <a:srgbClr val="3C3C3B"/>
                </a:solidFill>
                <a:latin typeface="Source Sans Pro" pitchFamily="34" charset="0"/>
                <a:ea typeface="Source Sans Pro" pitchFamily="34" charset="-122"/>
                <a:cs typeface="Source Sans Pro" pitchFamily="34" charset="-120"/>
              </a:rPr>
              <a:t>Exploring the transformative journey of frogs from eggs to adults.</a:t>
            </a:r>
            <a:endParaRPr lang="en-US" sz="1600" dirty="0"/>
          </a:p>
        </p:txBody>
      </p:sp>
      <p:sp>
        <p:nvSpPr>
          <p:cNvPr id="5" name="Text 2"/>
          <p:cNvSpPr/>
          <p:nvPr/>
        </p:nvSpPr>
        <p:spPr>
          <a:xfrm>
            <a:off x="274320" y="13716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6" name="Text 3"/>
          <p:cNvSpPr/>
          <p:nvPr/>
        </p:nvSpPr>
        <p:spPr>
          <a:xfrm>
            <a:off x="8503920" y="13716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57200"/>
            <a:ext cx="8229600" cy="548640"/>
          </a:xfrm>
          <a:prstGeom prst="rect">
            <a:avLst/>
          </a:prstGeom>
          <a:noFill/>
          <a:ln/>
        </p:spPr>
        <p:txBody>
          <a:bodyPr wrap="square" rtlCol="0" anchor="ctr"/>
          <a:lstStyle/>
          <a:p>
            <a:pPr indent="0" marL="0">
              <a:buNone/>
            </a:pPr>
            <a:r>
              <a:rPr lang="en-US" sz="2200" b="1" dirty="0">
                <a:solidFill>
                  <a:srgbClr val="033778"/>
                </a:solidFill>
                <a:latin typeface="Source Sans Pro" pitchFamily="34" charset="0"/>
                <a:ea typeface="Source Sans Pro" pitchFamily="34" charset="-122"/>
                <a:cs typeface="Source Sans Pro" pitchFamily="34" charset="-120"/>
              </a:rPr>
              <a:t>Presentation Overview</a:t>
            </a:r>
            <a:endParaRPr lang="en-US" sz="2200" dirty="0"/>
          </a:p>
        </p:txBody>
      </p:sp>
      <p:sp>
        <p:nvSpPr>
          <p:cNvPr id="3" name="Text 1"/>
          <p:cNvSpPr/>
          <p:nvPr/>
        </p:nvSpPr>
        <p:spPr>
          <a:xfrm>
            <a:off x="548640" y="1645920"/>
            <a:ext cx="8229600" cy="1097280"/>
          </a:xfrm>
          <a:prstGeom prst="rect">
            <a:avLst/>
          </a:prstGeom>
          <a:noFill/>
          <a:ln/>
        </p:spPr>
        <p:txBody>
          <a:bodyPr wrap="square" rtlCol="0" anchor="t"/>
          <a:lstStyle/>
          <a:p>
            <a:pPr indent="0" marL="0">
              <a:buNone/>
            </a:pPr>
            <a:r>
              <a:rPr lang="en-US" sz="1200" dirty="0">
                <a:solidFill>
                  <a:srgbClr val="3C3C3B"/>
                </a:solidFill>
                <a:latin typeface="Source Sans Pro" pitchFamily="34" charset="0"/>
                <a:ea typeface="Source Sans Pro" pitchFamily="34" charset="-122"/>
                <a:cs typeface="Source Sans Pro" pitchFamily="34" charset="-120"/>
              </a:rPr>
              <a:t>This presentation will cover the introduction to frog lifecycles, detail each stage of the lifecycle, discuss the importance of each stage, and conclude with key takeaways.</a:t>
            </a:r>
            <a:endParaRPr lang="en-US" sz="1200" dirty="0"/>
          </a:p>
        </p:txBody>
      </p:sp>
      <p:sp>
        <p:nvSpPr>
          <p:cNvPr id="4" name="Text 2"/>
          <p:cNvSpPr/>
          <p:nvPr/>
        </p:nvSpPr>
        <p:spPr>
          <a:xfrm>
            <a:off x="274320" y="13716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5" name="Text 3"/>
          <p:cNvSpPr/>
          <p:nvPr/>
        </p:nvSpPr>
        <p:spPr>
          <a:xfrm>
            <a:off x="8503920" y="13716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Users\extpedj\Desktop\PPTX-generator-demo\skill\erni-powerpoint-builder\assets\images\aqua-water-bubbles-84.jpg">    </p:cNvPr>
          <p:cNvPicPr>
            <a:picLocks noChangeAspect="1"/>
          </p:cNvPicPr>
          <p:nvPr/>
        </p:nvPicPr>
        <p:blipFill>
          <a:blip r:embed="rId1"/>
          <a:srcRect l="0" r="0" t="0" b="0"/>
          <a:stretch/>
        </p:blipFill>
        <p:spPr>
          <a:xfrm>
            <a:off x="0" y="0"/>
            <a:ext cx="4114800" cy="5143500"/>
          </a:xfrm>
          <a:prstGeom prst="rect">
            <a:avLst/>
          </a:prstGeom>
        </p:spPr>
      </p:pic>
      <p:sp>
        <p:nvSpPr>
          <p:cNvPr id="3" name="Text 0"/>
          <p:cNvSpPr/>
          <p:nvPr/>
        </p:nvSpPr>
        <p:spPr>
          <a:xfrm>
            <a:off x="4389120" y="457200"/>
            <a:ext cx="4389120" cy="548640"/>
          </a:xfrm>
          <a:prstGeom prst="rect">
            <a:avLst/>
          </a:prstGeom>
          <a:noFill/>
          <a:ln/>
        </p:spPr>
        <p:txBody>
          <a:bodyPr wrap="square" rtlCol="0" anchor="ctr"/>
          <a:lstStyle/>
          <a:p>
            <a:pPr indent="0" marL="0">
              <a:buNone/>
            </a:pPr>
            <a:r>
              <a:rPr lang="en-US" sz="2200" b="1" dirty="0">
                <a:solidFill>
                  <a:srgbClr val="033778"/>
                </a:solidFill>
                <a:latin typeface="Source Sans Pro" pitchFamily="34" charset="0"/>
                <a:ea typeface="Source Sans Pro" pitchFamily="34" charset="-122"/>
                <a:cs typeface="Source Sans Pro" pitchFamily="34" charset="-120"/>
              </a:rPr>
              <a:t>Introduction to Frog Lifecycle</a:t>
            </a:r>
            <a:endParaRPr lang="en-US" sz="2200" dirty="0"/>
          </a:p>
        </p:txBody>
      </p:sp>
      <p:sp>
        <p:nvSpPr>
          <p:cNvPr id="4" name="Text 1"/>
          <p:cNvSpPr/>
          <p:nvPr/>
        </p:nvSpPr>
        <p:spPr>
          <a:xfrm>
            <a:off x="4389120" y="1645920"/>
            <a:ext cx="4389120" cy="1280160"/>
          </a:xfrm>
          <a:prstGeom prst="rect">
            <a:avLst/>
          </a:prstGeom>
          <a:noFill/>
          <a:ln/>
        </p:spPr>
        <p:txBody>
          <a:bodyPr wrap="square" rtlCol="0" anchor="t"/>
          <a:lstStyle/>
          <a:p>
            <a:pPr indent="0" marL="0">
              <a:buNone/>
            </a:pPr>
            <a:r>
              <a:rPr lang="en-US" sz="1200" dirty="0">
                <a:solidFill>
                  <a:srgbClr val="3C3C3B"/>
                </a:solidFill>
                <a:latin typeface="Source Sans Pro" pitchFamily="34" charset="0"/>
                <a:ea typeface="Source Sans Pro" pitchFamily="34" charset="-122"/>
                <a:cs typeface="Source Sans Pro" pitchFamily="34" charset="-120"/>
              </a:rPr>
              <a:t>Frog lifecycles are a classic example of metamorphosis in the animal kingdom. This process showcases dramatic transformations that are crucial for their survival. Understanding these stages helps in appreciating the complexity and adaptability of frogs.</a:t>
            </a:r>
            <a:endParaRPr lang="en-US" sz="1200" dirty="0"/>
          </a:p>
        </p:txBody>
      </p:sp>
      <p:sp>
        <p:nvSpPr>
          <p:cNvPr id="5" name="Text 2"/>
          <p:cNvSpPr/>
          <p:nvPr/>
        </p:nvSpPr>
        <p:spPr>
          <a:xfrm>
            <a:off x="274320" y="13716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6" name="Text 3"/>
          <p:cNvSpPr/>
          <p:nvPr/>
        </p:nvSpPr>
        <p:spPr>
          <a:xfrm>
            <a:off x="8503920" y="13716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C:\Users\extpedj\Desktop\PPTX-generator-demo\skill\erni-powerpoint-builder\assets\images\blue-geometric-triangles-61.jpg">    </p:cNvPr>
          <p:cNvPicPr>
            <a:picLocks noChangeAspect="1"/>
          </p:cNvPicPr>
          <p:nvPr/>
        </p:nvPicPr>
        <p:blipFill>
          <a:blip r:embed="rId1"/>
          <a:srcRect l="0" r="0" t="0" b="0"/>
          <a:stretch/>
        </p:blipFill>
        <p:spPr>
          <a:xfrm>
            <a:off x="0" y="0"/>
            <a:ext cx="4114800" cy="5143500"/>
          </a:xfrm>
          <a:prstGeom prst="rect">
            <a:avLst/>
          </a:prstGeom>
        </p:spPr>
      </p:pic>
      <p:sp>
        <p:nvSpPr>
          <p:cNvPr id="3" name="Text 0"/>
          <p:cNvSpPr/>
          <p:nvPr/>
        </p:nvSpPr>
        <p:spPr>
          <a:xfrm>
            <a:off x="4389120" y="457200"/>
            <a:ext cx="4389120" cy="548640"/>
          </a:xfrm>
          <a:prstGeom prst="rect">
            <a:avLst/>
          </a:prstGeom>
          <a:noFill/>
          <a:ln/>
        </p:spPr>
        <p:txBody>
          <a:bodyPr wrap="square" rtlCol="0" anchor="ctr"/>
          <a:lstStyle/>
          <a:p>
            <a:pPr indent="0" marL="0">
              <a:buNone/>
            </a:pPr>
            <a:r>
              <a:rPr lang="en-US" sz="2200" b="1" dirty="0">
                <a:solidFill>
                  <a:srgbClr val="033778"/>
                </a:solidFill>
                <a:latin typeface="Source Sans Pro" pitchFamily="34" charset="0"/>
                <a:ea typeface="Source Sans Pro" pitchFamily="34" charset="-122"/>
                <a:cs typeface="Source Sans Pro" pitchFamily="34" charset="-120"/>
              </a:rPr>
              <a:t>Stage 1: Egg</a:t>
            </a:r>
            <a:endParaRPr lang="en-US" sz="2200" dirty="0"/>
          </a:p>
        </p:txBody>
      </p:sp>
      <p:sp>
        <p:nvSpPr>
          <p:cNvPr id="4" name="Text 1"/>
          <p:cNvSpPr/>
          <p:nvPr/>
        </p:nvSpPr>
        <p:spPr>
          <a:xfrm>
            <a:off x="4389120" y="1280160"/>
            <a:ext cx="2103120" cy="3200400"/>
          </a:xfrm>
          <a:prstGeom prst="rect">
            <a:avLst/>
          </a:prstGeom>
          <a:noFill/>
          <a:ln/>
        </p:spPr>
        <p:txBody>
          <a:bodyPr wrap="square" rtlCol="0" anchor="t"/>
          <a:lstStyle/>
          <a:p>
            <a:pPr indent="0" marL="0">
              <a:buNone/>
            </a:pPr>
            <a:r>
              <a:rPr lang="en-US" sz="1100" dirty="0">
                <a:solidFill>
                  <a:srgbClr val="3C3C3B"/>
                </a:solidFill>
                <a:latin typeface="Source Sans Pro" pitchFamily="34" charset="0"/>
                <a:ea typeface="Source Sans Pro" pitchFamily="34" charset="-122"/>
                <a:cs typeface="Source Sans Pro" pitchFamily="34" charset="-120"/>
              </a:rPr>
              <a:t>Frog eggs are laid in clusters in water, providing a safe environment for embryos to develop. The jelly-like substance surrounding the eggs offers protection and moisture, essential for the initial growth phase.</a:t>
            </a:r>
            <a:endParaRPr lang="en-US" sz="1100" dirty="0"/>
          </a:p>
        </p:txBody>
      </p:sp>
      <p:sp>
        <p:nvSpPr>
          <p:cNvPr id="5" name="Text 2"/>
          <p:cNvSpPr/>
          <p:nvPr/>
        </p:nvSpPr>
        <p:spPr>
          <a:xfrm>
            <a:off x="6675120" y="1280160"/>
            <a:ext cx="2103120" cy="3200400"/>
          </a:xfrm>
          <a:prstGeom prst="rect">
            <a:avLst/>
          </a:prstGeom>
          <a:noFill/>
          <a:ln/>
        </p:spPr>
        <p:txBody>
          <a:bodyPr wrap="square" rtlCol="0" anchor="t"/>
          <a:lstStyle/>
          <a:p>
            <a:pPr indent="0" marL="0">
              <a:buNone/>
            </a:pPr>
            <a:endParaRPr lang="en-US" sz="1100" dirty="0"/>
          </a:p>
        </p:txBody>
      </p:sp>
      <p:sp>
        <p:nvSpPr>
          <p:cNvPr id="6" name="Text 3"/>
          <p:cNvSpPr/>
          <p:nvPr/>
        </p:nvSpPr>
        <p:spPr>
          <a:xfrm>
            <a:off x="274320" y="13716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7" name="Text 4"/>
          <p:cNvSpPr/>
          <p:nvPr/>
        </p:nvSpPr>
        <p:spPr>
          <a:xfrm>
            <a:off x="8503920" y="13716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C:\Users\extpedj\Desktop\PPTX-generator-demo\skill\erni-powerpoint-builder\assets\images\blue-orange-ink-clouds-22.jpg">    </p:cNvPr>
          <p:cNvPicPr>
            <a:picLocks noChangeAspect="1"/>
          </p:cNvPicPr>
          <p:nvPr/>
        </p:nvPicPr>
        <p:blipFill>
          <a:blip r:embed="rId1"/>
          <a:srcRect l="0" r="0" t="0" b="0"/>
          <a:stretch/>
        </p:blipFill>
        <p:spPr>
          <a:xfrm>
            <a:off x="0" y="0"/>
            <a:ext cx="4114800" cy="5143500"/>
          </a:xfrm>
          <a:prstGeom prst="rect">
            <a:avLst/>
          </a:prstGeom>
        </p:spPr>
      </p:pic>
      <p:sp>
        <p:nvSpPr>
          <p:cNvPr id="3" name="Text 0"/>
          <p:cNvSpPr/>
          <p:nvPr/>
        </p:nvSpPr>
        <p:spPr>
          <a:xfrm>
            <a:off x="4389120" y="457200"/>
            <a:ext cx="4389120" cy="548640"/>
          </a:xfrm>
          <a:prstGeom prst="rect">
            <a:avLst/>
          </a:prstGeom>
          <a:noFill/>
          <a:ln/>
        </p:spPr>
        <p:txBody>
          <a:bodyPr wrap="square" rtlCol="0" anchor="ctr"/>
          <a:lstStyle/>
          <a:p>
            <a:pPr indent="0" marL="0">
              <a:buNone/>
            </a:pPr>
            <a:r>
              <a:rPr lang="en-US" sz="2200" b="1" dirty="0">
                <a:solidFill>
                  <a:srgbClr val="033778"/>
                </a:solidFill>
                <a:latin typeface="Source Sans Pro" pitchFamily="34" charset="0"/>
                <a:ea typeface="Source Sans Pro" pitchFamily="34" charset="-122"/>
                <a:cs typeface="Source Sans Pro" pitchFamily="34" charset="-120"/>
              </a:rPr>
              <a:t>Stage 2: Tadpole</a:t>
            </a:r>
            <a:endParaRPr lang="en-US" sz="2200" dirty="0"/>
          </a:p>
        </p:txBody>
      </p:sp>
      <p:sp>
        <p:nvSpPr>
          <p:cNvPr id="4" name="Text 1"/>
          <p:cNvSpPr/>
          <p:nvPr/>
        </p:nvSpPr>
        <p:spPr>
          <a:xfrm>
            <a:off x="4389120" y="1280160"/>
            <a:ext cx="2103120" cy="3200400"/>
          </a:xfrm>
          <a:prstGeom prst="rect">
            <a:avLst/>
          </a:prstGeom>
          <a:noFill/>
          <a:ln/>
        </p:spPr>
        <p:txBody>
          <a:bodyPr wrap="square" rtlCol="0" anchor="t"/>
          <a:lstStyle/>
          <a:p>
            <a:pPr indent="0" marL="0">
              <a:buNone/>
            </a:pPr>
            <a:r>
              <a:rPr lang="en-US" sz="1100" dirty="0">
                <a:solidFill>
                  <a:srgbClr val="3C3C3B"/>
                </a:solidFill>
                <a:latin typeface="Source Sans Pro" pitchFamily="34" charset="0"/>
                <a:ea typeface="Source Sans Pro" pitchFamily="34" charset="-122"/>
                <a:cs typeface="Source Sans Pro" pitchFamily="34" charset="-120"/>
              </a:rPr>
              <a:t>Tadpoles emerge from eggs as aquatic creatures, equipped with gills for breathing underwater. They primarily feed on algae, which supports their rapid growth and development during this stage.</a:t>
            </a:r>
            <a:endParaRPr lang="en-US" sz="1100" dirty="0"/>
          </a:p>
        </p:txBody>
      </p:sp>
      <p:sp>
        <p:nvSpPr>
          <p:cNvPr id="5" name="Text 2"/>
          <p:cNvSpPr/>
          <p:nvPr/>
        </p:nvSpPr>
        <p:spPr>
          <a:xfrm>
            <a:off x="6675120" y="1280160"/>
            <a:ext cx="2103120" cy="3200400"/>
          </a:xfrm>
          <a:prstGeom prst="rect">
            <a:avLst/>
          </a:prstGeom>
          <a:noFill/>
          <a:ln/>
        </p:spPr>
        <p:txBody>
          <a:bodyPr wrap="square" rtlCol="0" anchor="t"/>
          <a:lstStyle/>
          <a:p>
            <a:pPr indent="0" marL="0">
              <a:buNone/>
            </a:pPr>
            <a:endParaRPr lang="en-US" sz="1100" dirty="0"/>
          </a:p>
        </p:txBody>
      </p:sp>
      <p:sp>
        <p:nvSpPr>
          <p:cNvPr id="6" name="Text 3"/>
          <p:cNvSpPr/>
          <p:nvPr/>
        </p:nvSpPr>
        <p:spPr>
          <a:xfrm>
            <a:off x="274320" y="13716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7" name="Text 4"/>
          <p:cNvSpPr/>
          <p:nvPr/>
        </p:nvSpPr>
        <p:spPr>
          <a:xfrm>
            <a:off x="8503920" y="13716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C:\Users\extpedj\Desktop\PPTX-generator-demo\skill\erni-powerpoint-builder\assets\images\cyan-magenta-fluid-ribbon-57.jpg">    </p:cNvPr>
          <p:cNvPicPr>
            <a:picLocks noChangeAspect="1"/>
          </p:cNvPicPr>
          <p:nvPr/>
        </p:nvPicPr>
        <p:blipFill>
          <a:blip r:embed="rId1"/>
          <a:srcRect l="0" r="0" t="0" b="0"/>
          <a:stretch/>
        </p:blipFill>
        <p:spPr>
          <a:xfrm>
            <a:off x="0" y="0"/>
            <a:ext cx="4114800" cy="5143500"/>
          </a:xfrm>
          <a:prstGeom prst="rect">
            <a:avLst/>
          </a:prstGeom>
        </p:spPr>
      </p:pic>
      <p:sp>
        <p:nvSpPr>
          <p:cNvPr id="3" name="Text 0"/>
          <p:cNvSpPr/>
          <p:nvPr/>
        </p:nvSpPr>
        <p:spPr>
          <a:xfrm>
            <a:off x="4389120" y="457200"/>
            <a:ext cx="4389120" cy="548640"/>
          </a:xfrm>
          <a:prstGeom prst="rect">
            <a:avLst/>
          </a:prstGeom>
          <a:noFill/>
          <a:ln/>
        </p:spPr>
        <p:txBody>
          <a:bodyPr wrap="square" rtlCol="0" anchor="ctr"/>
          <a:lstStyle/>
          <a:p>
            <a:pPr indent="0" marL="0">
              <a:buNone/>
            </a:pPr>
            <a:r>
              <a:rPr lang="en-US" sz="2200" b="1" dirty="0">
                <a:solidFill>
                  <a:srgbClr val="033778"/>
                </a:solidFill>
                <a:latin typeface="Source Sans Pro" pitchFamily="34" charset="0"/>
                <a:ea typeface="Source Sans Pro" pitchFamily="34" charset="-122"/>
                <a:cs typeface="Source Sans Pro" pitchFamily="34" charset="-120"/>
              </a:rPr>
              <a:t>Stage 3: Froglet</a:t>
            </a:r>
            <a:endParaRPr lang="en-US" sz="2200" dirty="0"/>
          </a:p>
        </p:txBody>
      </p:sp>
      <p:sp>
        <p:nvSpPr>
          <p:cNvPr id="4" name="Text 1"/>
          <p:cNvSpPr/>
          <p:nvPr/>
        </p:nvSpPr>
        <p:spPr>
          <a:xfrm>
            <a:off x="4389120" y="1280160"/>
            <a:ext cx="2103120" cy="3200400"/>
          </a:xfrm>
          <a:prstGeom prst="rect">
            <a:avLst/>
          </a:prstGeom>
          <a:noFill/>
          <a:ln/>
        </p:spPr>
        <p:txBody>
          <a:bodyPr wrap="square" rtlCol="0" anchor="t"/>
          <a:lstStyle/>
          <a:p>
            <a:pPr indent="0" marL="0">
              <a:buNone/>
            </a:pPr>
            <a:r>
              <a:rPr lang="en-US" sz="1100" dirty="0">
                <a:solidFill>
                  <a:srgbClr val="3C3C3B"/>
                </a:solidFill>
                <a:latin typeface="Source Sans Pro" pitchFamily="34" charset="0"/>
                <a:ea typeface="Source Sans Pro" pitchFamily="34" charset="-122"/>
                <a:cs typeface="Source Sans Pro" pitchFamily="34" charset="-120"/>
              </a:rPr>
              <a:t>As tadpoles transition to froglets, they develop legs and lungs, adapting to life on land. This stage is critical as they begin to lose their tails and prepare for a terrestrial existence.</a:t>
            </a:r>
            <a:endParaRPr lang="en-US" sz="1100" dirty="0"/>
          </a:p>
        </p:txBody>
      </p:sp>
      <p:sp>
        <p:nvSpPr>
          <p:cNvPr id="5" name="Text 2"/>
          <p:cNvSpPr/>
          <p:nvPr/>
        </p:nvSpPr>
        <p:spPr>
          <a:xfrm>
            <a:off x="6675120" y="1280160"/>
            <a:ext cx="2103120" cy="3200400"/>
          </a:xfrm>
          <a:prstGeom prst="rect">
            <a:avLst/>
          </a:prstGeom>
          <a:noFill/>
          <a:ln/>
        </p:spPr>
        <p:txBody>
          <a:bodyPr wrap="square" rtlCol="0" anchor="t"/>
          <a:lstStyle/>
          <a:p>
            <a:pPr indent="0" marL="0">
              <a:buNone/>
            </a:pPr>
            <a:endParaRPr lang="en-US" sz="1100" dirty="0"/>
          </a:p>
        </p:txBody>
      </p:sp>
      <p:sp>
        <p:nvSpPr>
          <p:cNvPr id="6" name="Text 3"/>
          <p:cNvSpPr/>
          <p:nvPr/>
        </p:nvSpPr>
        <p:spPr>
          <a:xfrm>
            <a:off x="274320" y="13716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7" name="Text 4"/>
          <p:cNvSpPr/>
          <p:nvPr/>
        </p:nvSpPr>
        <p:spPr>
          <a:xfrm>
            <a:off x="8503920" y="13716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C:\Users\extpedj\Desktop\PPTX-generator-demo\skill\erni-powerpoint-builder\assets\images\cyan-yellow-magenta-scanlines-76.jpg">    </p:cNvPr>
          <p:cNvPicPr>
            <a:picLocks noChangeAspect="1"/>
          </p:cNvPicPr>
          <p:nvPr/>
        </p:nvPicPr>
        <p:blipFill>
          <a:blip r:embed="rId1"/>
          <a:srcRect l="0" r="0" t="0" b="0"/>
          <a:stretch/>
        </p:blipFill>
        <p:spPr>
          <a:xfrm>
            <a:off x="0" y="0"/>
            <a:ext cx="4114800" cy="5143500"/>
          </a:xfrm>
          <a:prstGeom prst="rect">
            <a:avLst/>
          </a:prstGeom>
        </p:spPr>
      </p:pic>
      <p:sp>
        <p:nvSpPr>
          <p:cNvPr id="3" name="Text 0"/>
          <p:cNvSpPr/>
          <p:nvPr/>
        </p:nvSpPr>
        <p:spPr>
          <a:xfrm>
            <a:off x="4389120" y="457200"/>
            <a:ext cx="4389120" cy="548640"/>
          </a:xfrm>
          <a:prstGeom prst="rect">
            <a:avLst/>
          </a:prstGeom>
          <a:noFill/>
          <a:ln/>
        </p:spPr>
        <p:txBody>
          <a:bodyPr wrap="square" rtlCol="0" anchor="ctr"/>
          <a:lstStyle/>
          <a:p>
            <a:pPr indent="0" marL="0">
              <a:buNone/>
            </a:pPr>
            <a:r>
              <a:rPr lang="en-US" sz="2200" b="1" dirty="0">
                <a:solidFill>
                  <a:srgbClr val="033778"/>
                </a:solidFill>
                <a:latin typeface="Source Sans Pro" pitchFamily="34" charset="0"/>
                <a:ea typeface="Source Sans Pro" pitchFamily="34" charset="-122"/>
                <a:cs typeface="Source Sans Pro" pitchFamily="34" charset="-120"/>
              </a:rPr>
              <a:t>Stage 4: Adult Frog</a:t>
            </a:r>
            <a:endParaRPr lang="en-US" sz="2200" dirty="0"/>
          </a:p>
        </p:txBody>
      </p:sp>
      <p:sp>
        <p:nvSpPr>
          <p:cNvPr id="4" name="Text 1"/>
          <p:cNvSpPr/>
          <p:nvPr/>
        </p:nvSpPr>
        <p:spPr>
          <a:xfrm>
            <a:off x="4389120" y="1280160"/>
            <a:ext cx="2103120" cy="3200400"/>
          </a:xfrm>
          <a:prstGeom prst="rect">
            <a:avLst/>
          </a:prstGeom>
          <a:noFill/>
          <a:ln/>
        </p:spPr>
        <p:txBody>
          <a:bodyPr wrap="square" rtlCol="0" anchor="t"/>
          <a:lstStyle/>
          <a:p>
            <a:pPr indent="0" marL="0">
              <a:buNone/>
            </a:pPr>
            <a:r>
              <a:rPr lang="en-US" sz="1100" dirty="0">
                <a:solidFill>
                  <a:srgbClr val="3C3C3B"/>
                </a:solidFill>
                <a:latin typeface="Source Sans Pro" pitchFamily="34" charset="0"/>
                <a:ea typeface="Source Sans Pro" pitchFamily="34" charset="-122"/>
                <a:cs typeface="Source Sans Pro" pitchFamily="34" charset="-120"/>
              </a:rPr>
              <a:t>Adult frogs are fully adapted to life on land, capable of jumping and hunting for food. They play a vital role in ecosystems as both predators and prey, and they reproduce to continue the lifecycle.</a:t>
            </a:r>
            <a:endParaRPr lang="en-US" sz="1100" dirty="0"/>
          </a:p>
        </p:txBody>
      </p:sp>
      <p:sp>
        <p:nvSpPr>
          <p:cNvPr id="5" name="Text 2"/>
          <p:cNvSpPr/>
          <p:nvPr/>
        </p:nvSpPr>
        <p:spPr>
          <a:xfrm>
            <a:off x="6675120" y="1280160"/>
            <a:ext cx="2103120" cy="3200400"/>
          </a:xfrm>
          <a:prstGeom prst="rect">
            <a:avLst/>
          </a:prstGeom>
          <a:noFill/>
          <a:ln/>
        </p:spPr>
        <p:txBody>
          <a:bodyPr wrap="square" rtlCol="0" anchor="t"/>
          <a:lstStyle/>
          <a:p>
            <a:pPr indent="0" marL="0">
              <a:buNone/>
            </a:pPr>
            <a:endParaRPr lang="en-US" sz="1100" dirty="0"/>
          </a:p>
        </p:txBody>
      </p:sp>
      <p:sp>
        <p:nvSpPr>
          <p:cNvPr id="6" name="Text 3"/>
          <p:cNvSpPr/>
          <p:nvPr/>
        </p:nvSpPr>
        <p:spPr>
          <a:xfrm>
            <a:off x="274320" y="13716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7" name="Text 4"/>
          <p:cNvSpPr/>
          <p:nvPr/>
        </p:nvSpPr>
        <p:spPr>
          <a:xfrm>
            <a:off x="8503920" y="13716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457200"/>
            <a:ext cx="8229600" cy="548640"/>
          </a:xfrm>
          <a:prstGeom prst="rect">
            <a:avLst/>
          </a:prstGeom>
          <a:noFill/>
          <a:ln/>
        </p:spPr>
        <p:txBody>
          <a:bodyPr wrap="square" rtlCol="0" anchor="ctr"/>
          <a:lstStyle/>
          <a:p>
            <a:pPr indent="0" marL="0">
              <a:buNone/>
            </a:pPr>
            <a:r>
              <a:rPr lang="en-US" sz="2200" b="1" dirty="0">
                <a:solidFill>
                  <a:srgbClr val="033778"/>
                </a:solidFill>
                <a:latin typeface="Source Sans Pro" pitchFamily="34" charset="0"/>
                <a:ea typeface="Source Sans Pro" pitchFamily="34" charset="-122"/>
                <a:cs typeface="Source Sans Pro" pitchFamily="34" charset="-120"/>
              </a:rPr>
              <a:t>The Importance of Each Stage</a:t>
            </a:r>
            <a:endParaRPr lang="en-US" sz="2200" dirty="0"/>
          </a:p>
        </p:txBody>
      </p:sp>
      <p:sp>
        <p:nvSpPr>
          <p:cNvPr id="3" name="Text 1"/>
          <p:cNvSpPr/>
          <p:nvPr/>
        </p:nvSpPr>
        <p:spPr>
          <a:xfrm>
            <a:off x="548640" y="1645920"/>
            <a:ext cx="3840480" cy="2926080"/>
          </a:xfrm>
          <a:prstGeom prst="rect">
            <a:avLst/>
          </a:prstGeom>
          <a:noFill/>
          <a:ln/>
        </p:spPr>
        <p:txBody>
          <a:bodyPr wrap="square" rtlCol="0" anchor="t"/>
          <a:lstStyle/>
          <a:p>
            <a:pPr indent="0" marL="0">
              <a:buNone/>
            </a:pPr>
            <a:r>
              <a:rPr lang="en-US" sz="1200" dirty="0">
                <a:solidFill>
                  <a:srgbClr val="3C3C3B"/>
                </a:solidFill>
                <a:latin typeface="Source Sans Pro" pitchFamily="34" charset="0"/>
                <a:ea typeface="Source Sans Pro" pitchFamily="34" charset="-122"/>
                <a:cs typeface="Source Sans Pro" pitchFamily="34" charset="-120"/>
              </a:rPr>
              <a:t>Each stage of the frog lifecycle is crucial for survival and adaptation. Eggs provide a safe start, tadpoles grow rapidly in water, froglets transition to land, and adults ensure species continuation.</a:t>
            </a:r>
            <a:endParaRPr lang="en-US" sz="1200" dirty="0"/>
          </a:p>
        </p:txBody>
      </p:sp>
      <p:sp>
        <p:nvSpPr>
          <p:cNvPr id="4" name="Text 2"/>
          <p:cNvSpPr/>
          <p:nvPr/>
        </p:nvSpPr>
        <p:spPr>
          <a:xfrm>
            <a:off x="4754880" y="1645920"/>
            <a:ext cx="3840480" cy="2926080"/>
          </a:xfrm>
          <a:prstGeom prst="rect">
            <a:avLst/>
          </a:prstGeom>
          <a:noFill/>
          <a:ln/>
        </p:spPr>
        <p:txBody>
          <a:bodyPr wrap="square" rtlCol="0" anchor="t"/>
          <a:lstStyle/>
          <a:p>
            <a:pPr indent="0" marL="0">
              <a:buNone/>
            </a:pPr>
            <a:endParaRPr lang="en-US" sz="1200" dirty="0"/>
          </a:p>
        </p:txBody>
      </p:sp>
      <p:sp>
        <p:nvSpPr>
          <p:cNvPr id="5" name="Text 3"/>
          <p:cNvSpPr/>
          <p:nvPr/>
        </p:nvSpPr>
        <p:spPr>
          <a:xfrm>
            <a:off x="274320" y="13716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6" name="Text 4"/>
          <p:cNvSpPr/>
          <p:nvPr/>
        </p:nvSpPr>
        <p:spPr>
          <a:xfrm>
            <a:off x="8503920" y="13716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457200"/>
            <a:ext cx="8229600" cy="548640"/>
          </a:xfrm>
          <a:prstGeom prst="rect">
            <a:avLst/>
          </a:prstGeom>
          <a:noFill/>
          <a:ln/>
        </p:spPr>
        <p:txBody>
          <a:bodyPr wrap="square" rtlCol="0" anchor="ctr"/>
          <a:lstStyle/>
          <a:p>
            <a:pPr indent="0" marL="0">
              <a:buNone/>
            </a:pPr>
            <a:r>
              <a:rPr lang="en-US" sz="2200" b="1" dirty="0">
                <a:solidFill>
                  <a:srgbClr val="033778"/>
                </a:solidFill>
                <a:latin typeface="Source Sans Pro" pitchFamily="34" charset="0"/>
                <a:ea typeface="Source Sans Pro" pitchFamily="34" charset="-122"/>
                <a:cs typeface="Source Sans Pro" pitchFamily="34" charset="-120"/>
              </a:rPr>
              <a:t>Lifecycle Challenges and Adaptations</a:t>
            </a:r>
            <a:endParaRPr lang="en-US" sz="2200" dirty="0"/>
          </a:p>
        </p:txBody>
      </p:sp>
      <p:sp>
        <p:nvSpPr>
          <p:cNvPr id="3" name="Shape 1"/>
          <p:cNvSpPr/>
          <p:nvPr/>
        </p:nvSpPr>
        <p:spPr>
          <a:xfrm>
            <a:off x="1051560" y="1737360"/>
            <a:ext cx="457200" cy="457200"/>
          </a:xfrm>
          <a:prstGeom prst="ellipse">
            <a:avLst/>
          </a:prstGeom>
          <a:solidFill>
            <a:srgbClr val="033778"/>
          </a:solidFill>
          <a:ln/>
        </p:spPr>
      </p:sp>
      <p:sp>
        <p:nvSpPr>
          <p:cNvPr id="4" name="Text 2"/>
          <p:cNvSpPr/>
          <p:nvPr/>
        </p:nvSpPr>
        <p:spPr>
          <a:xfrm>
            <a:off x="1051560" y="1737360"/>
            <a:ext cx="457200" cy="457200"/>
          </a:xfrm>
          <a:prstGeom prst="rect">
            <a:avLst/>
          </a:prstGeom>
          <a:noFill/>
          <a:ln/>
        </p:spPr>
        <p:txBody>
          <a:bodyPr wrap="square" rtlCol="0" anchor="ctr"/>
          <a:lstStyle/>
          <a:p>
            <a:pPr algn="ctr" indent="0" marL="0">
              <a:buNone/>
            </a:pPr>
            <a:r>
              <a:rPr lang="en-US" sz="1400" b="1" dirty="0">
                <a:solidFill>
                  <a:srgbClr val="FFFFFF"/>
                </a:solidFill>
                <a:latin typeface="Source Sans Pro" pitchFamily="34" charset="0"/>
                <a:ea typeface="Source Sans Pro" pitchFamily="34" charset="-122"/>
                <a:cs typeface="Source Sans Pro" pitchFamily="34" charset="-120"/>
              </a:rPr>
              <a:t>1</a:t>
            </a:r>
            <a:endParaRPr lang="en-US" sz="1400" dirty="0"/>
          </a:p>
        </p:txBody>
      </p:sp>
      <p:sp>
        <p:nvSpPr>
          <p:cNvPr id="5" name="Shape 3"/>
          <p:cNvSpPr/>
          <p:nvPr/>
        </p:nvSpPr>
        <p:spPr>
          <a:xfrm>
            <a:off x="2148840" y="1965960"/>
            <a:ext cx="91440" cy="0"/>
          </a:xfrm>
          <a:prstGeom prst="line">
            <a:avLst/>
          </a:prstGeom>
          <a:noFill/>
          <a:ln w="19050">
            <a:solidFill>
              <a:srgbClr val="033778"/>
            </a:solidFill>
            <a:prstDash val="solid"/>
          </a:ln>
        </p:spPr>
      </p:sp>
      <p:sp>
        <p:nvSpPr>
          <p:cNvPr id="6" name="Text 4"/>
          <p:cNvSpPr/>
          <p:nvPr/>
        </p:nvSpPr>
        <p:spPr>
          <a:xfrm>
            <a:off x="548640" y="2331720"/>
            <a:ext cx="1554480" cy="365760"/>
          </a:xfrm>
          <a:prstGeom prst="rect">
            <a:avLst/>
          </a:prstGeom>
          <a:noFill/>
          <a:ln/>
        </p:spPr>
        <p:txBody>
          <a:bodyPr wrap="square" rtlCol="0" anchor="ctr"/>
          <a:lstStyle/>
          <a:p>
            <a:pPr algn="ctr" indent="0" marL="0">
              <a:buNone/>
            </a:pPr>
            <a:r>
              <a:rPr lang="en-US" sz="1100" b="1" dirty="0">
                <a:solidFill>
                  <a:srgbClr val="033778"/>
                </a:solidFill>
                <a:latin typeface="Source Sans Pro" pitchFamily="34" charset="0"/>
                <a:ea typeface="Source Sans Pro" pitchFamily="34" charset="-122"/>
                <a:cs typeface="Source Sans Pro" pitchFamily="34" charset="-120"/>
              </a:rPr>
              <a:t>Egg Stage</a:t>
            </a:r>
            <a:endParaRPr lang="en-US" sz="1100" dirty="0"/>
          </a:p>
        </p:txBody>
      </p:sp>
      <p:sp>
        <p:nvSpPr>
          <p:cNvPr id="7" name="Text 5"/>
          <p:cNvSpPr/>
          <p:nvPr/>
        </p:nvSpPr>
        <p:spPr>
          <a:xfrm>
            <a:off x="548640" y="2743200"/>
            <a:ext cx="1554480" cy="1828800"/>
          </a:xfrm>
          <a:prstGeom prst="rect">
            <a:avLst/>
          </a:prstGeom>
          <a:noFill/>
          <a:ln/>
        </p:spPr>
        <p:txBody>
          <a:bodyPr wrap="square" rtlCol="0" anchor="t"/>
          <a:lstStyle/>
          <a:p>
            <a:pPr algn="ctr" indent="0" marL="0">
              <a:buNone/>
            </a:pPr>
            <a:r>
              <a:rPr lang="en-US" sz="1000" dirty="0">
                <a:solidFill>
                  <a:srgbClr val="3C3C3B"/>
                </a:solidFill>
                <a:latin typeface="Source Sans Pro" pitchFamily="34" charset="0"/>
                <a:ea typeface="Source Sans Pro" pitchFamily="34" charset="-122"/>
                <a:cs typeface="Source Sans Pro" pitchFamily="34" charset="-120"/>
              </a:rPr>
              <a:t>Vulnerable to predators and environmental changes.</a:t>
            </a:r>
            <a:endParaRPr lang="en-US" sz="1000" dirty="0"/>
          </a:p>
        </p:txBody>
      </p:sp>
      <p:sp>
        <p:nvSpPr>
          <p:cNvPr id="8" name="Shape 6"/>
          <p:cNvSpPr/>
          <p:nvPr/>
        </p:nvSpPr>
        <p:spPr>
          <a:xfrm>
            <a:off x="2743200" y="1737360"/>
            <a:ext cx="457200" cy="457200"/>
          </a:xfrm>
          <a:prstGeom prst="ellipse">
            <a:avLst/>
          </a:prstGeom>
          <a:solidFill>
            <a:srgbClr val="033778"/>
          </a:solidFill>
          <a:ln/>
        </p:spPr>
      </p:sp>
      <p:sp>
        <p:nvSpPr>
          <p:cNvPr id="9" name="Text 7"/>
          <p:cNvSpPr/>
          <p:nvPr/>
        </p:nvSpPr>
        <p:spPr>
          <a:xfrm>
            <a:off x="2743200" y="1737360"/>
            <a:ext cx="457200" cy="457200"/>
          </a:xfrm>
          <a:prstGeom prst="rect">
            <a:avLst/>
          </a:prstGeom>
          <a:noFill/>
          <a:ln/>
        </p:spPr>
        <p:txBody>
          <a:bodyPr wrap="square" rtlCol="0" anchor="ctr"/>
          <a:lstStyle/>
          <a:p>
            <a:pPr algn="ctr" indent="0" marL="0">
              <a:buNone/>
            </a:pPr>
            <a:r>
              <a:rPr lang="en-US" sz="1400" b="1" dirty="0">
                <a:solidFill>
                  <a:srgbClr val="FFFFFF"/>
                </a:solidFill>
                <a:latin typeface="Source Sans Pro" pitchFamily="34" charset="0"/>
                <a:ea typeface="Source Sans Pro" pitchFamily="34" charset="-122"/>
                <a:cs typeface="Source Sans Pro" pitchFamily="34" charset="-120"/>
              </a:rPr>
              <a:t>2</a:t>
            </a:r>
            <a:endParaRPr lang="en-US" sz="1400" dirty="0"/>
          </a:p>
        </p:txBody>
      </p:sp>
      <p:sp>
        <p:nvSpPr>
          <p:cNvPr id="10" name="Shape 8"/>
          <p:cNvSpPr/>
          <p:nvPr/>
        </p:nvSpPr>
        <p:spPr>
          <a:xfrm>
            <a:off x="3840480" y="1965960"/>
            <a:ext cx="91440" cy="0"/>
          </a:xfrm>
          <a:prstGeom prst="line">
            <a:avLst/>
          </a:prstGeom>
          <a:noFill/>
          <a:ln w="19050">
            <a:solidFill>
              <a:srgbClr val="033778"/>
            </a:solidFill>
            <a:prstDash val="solid"/>
          </a:ln>
        </p:spPr>
      </p:sp>
      <p:sp>
        <p:nvSpPr>
          <p:cNvPr id="11" name="Text 9"/>
          <p:cNvSpPr/>
          <p:nvPr/>
        </p:nvSpPr>
        <p:spPr>
          <a:xfrm>
            <a:off x="2240280" y="2331720"/>
            <a:ext cx="1554480" cy="365760"/>
          </a:xfrm>
          <a:prstGeom prst="rect">
            <a:avLst/>
          </a:prstGeom>
          <a:noFill/>
          <a:ln/>
        </p:spPr>
        <p:txBody>
          <a:bodyPr wrap="square" rtlCol="0" anchor="ctr"/>
          <a:lstStyle/>
          <a:p>
            <a:pPr algn="ctr" indent="0" marL="0">
              <a:buNone/>
            </a:pPr>
            <a:r>
              <a:rPr lang="en-US" sz="1100" b="1" dirty="0">
                <a:solidFill>
                  <a:srgbClr val="033778"/>
                </a:solidFill>
                <a:latin typeface="Source Sans Pro" pitchFamily="34" charset="0"/>
                <a:ea typeface="Source Sans Pro" pitchFamily="34" charset="-122"/>
                <a:cs typeface="Source Sans Pro" pitchFamily="34" charset="-120"/>
              </a:rPr>
              <a:t>Tadpole Stage</a:t>
            </a:r>
            <a:endParaRPr lang="en-US" sz="1100" dirty="0"/>
          </a:p>
        </p:txBody>
      </p:sp>
      <p:sp>
        <p:nvSpPr>
          <p:cNvPr id="12" name="Text 10"/>
          <p:cNvSpPr/>
          <p:nvPr/>
        </p:nvSpPr>
        <p:spPr>
          <a:xfrm>
            <a:off x="2240280" y="2743200"/>
            <a:ext cx="1554480" cy="1828800"/>
          </a:xfrm>
          <a:prstGeom prst="rect">
            <a:avLst/>
          </a:prstGeom>
          <a:noFill/>
          <a:ln/>
        </p:spPr>
        <p:txBody>
          <a:bodyPr wrap="square" rtlCol="0" anchor="t"/>
          <a:lstStyle/>
          <a:p>
            <a:pPr algn="ctr" indent="0" marL="0">
              <a:buNone/>
            </a:pPr>
            <a:r>
              <a:rPr lang="en-US" sz="1000" dirty="0">
                <a:solidFill>
                  <a:srgbClr val="3C3C3B"/>
                </a:solidFill>
                <a:latin typeface="Source Sans Pro" pitchFamily="34" charset="0"/>
                <a:ea typeface="Source Sans Pro" pitchFamily="34" charset="-122"/>
                <a:cs typeface="Source Sans Pro" pitchFamily="34" charset="-120"/>
              </a:rPr>
              <a:t>Adapts to aquatic life, faces competition for food.</a:t>
            </a:r>
            <a:endParaRPr lang="en-US" sz="1000" dirty="0"/>
          </a:p>
        </p:txBody>
      </p:sp>
      <p:sp>
        <p:nvSpPr>
          <p:cNvPr id="13" name="Shape 11"/>
          <p:cNvSpPr/>
          <p:nvPr/>
        </p:nvSpPr>
        <p:spPr>
          <a:xfrm>
            <a:off x="4434840" y="1737360"/>
            <a:ext cx="457200" cy="457200"/>
          </a:xfrm>
          <a:prstGeom prst="ellipse">
            <a:avLst/>
          </a:prstGeom>
          <a:solidFill>
            <a:srgbClr val="033778"/>
          </a:solidFill>
          <a:ln/>
        </p:spPr>
      </p:sp>
      <p:sp>
        <p:nvSpPr>
          <p:cNvPr id="14" name="Text 12"/>
          <p:cNvSpPr/>
          <p:nvPr/>
        </p:nvSpPr>
        <p:spPr>
          <a:xfrm>
            <a:off x="4434840" y="1737360"/>
            <a:ext cx="457200" cy="457200"/>
          </a:xfrm>
          <a:prstGeom prst="rect">
            <a:avLst/>
          </a:prstGeom>
          <a:noFill/>
          <a:ln/>
        </p:spPr>
        <p:txBody>
          <a:bodyPr wrap="square" rtlCol="0" anchor="ctr"/>
          <a:lstStyle/>
          <a:p>
            <a:pPr algn="ctr" indent="0" marL="0">
              <a:buNone/>
            </a:pPr>
            <a:r>
              <a:rPr lang="en-US" sz="1400" b="1" dirty="0">
                <a:solidFill>
                  <a:srgbClr val="FFFFFF"/>
                </a:solidFill>
                <a:latin typeface="Source Sans Pro" pitchFamily="34" charset="0"/>
                <a:ea typeface="Source Sans Pro" pitchFamily="34" charset="-122"/>
                <a:cs typeface="Source Sans Pro" pitchFamily="34" charset="-120"/>
              </a:rPr>
              <a:t>3</a:t>
            </a:r>
            <a:endParaRPr lang="en-US" sz="1400" dirty="0"/>
          </a:p>
        </p:txBody>
      </p:sp>
      <p:sp>
        <p:nvSpPr>
          <p:cNvPr id="15" name="Shape 13"/>
          <p:cNvSpPr/>
          <p:nvPr/>
        </p:nvSpPr>
        <p:spPr>
          <a:xfrm>
            <a:off x="5532120" y="1965960"/>
            <a:ext cx="91440" cy="0"/>
          </a:xfrm>
          <a:prstGeom prst="line">
            <a:avLst/>
          </a:prstGeom>
          <a:noFill/>
          <a:ln w="19050">
            <a:solidFill>
              <a:srgbClr val="033778"/>
            </a:solidFill>
            <a:prstDash val="solid"/>
          </a:ln>
        </p:spPr>
      </p:sp>
      <p:sp>
        <p:nvSpPr>
          <p:cNvPr id="16" name="Text 14"/>
          <p:cNvSpPr/>
          <p:nvPr/>
        </p:nvSpPr>
        <p:spPr>
          <a:xfrm>
            <a:off x="3931920" y="2331720"/>
            <a:ext cx="1554480" cy="365760"/>
          </a:xfrm>
          <a:prstGeom prst="rect">
            <a:avLst/>
          </a:prstGeom>
          <a:noFill/>
          <a:ln/>
        </p:spPr>
        <p:txBody>
          <a:bodyPr wrap="square" rtlCol="0" anchor="ctr"/>
          <a:lstStyle/>
          <a:p>
            <a:pPr algn="ctr" indent="0" marL="0">
              <a:buNone/>
            </a:pPr>
            <a:r>
              <a:rPr lang="en-US" sz="1100" b="1" dirty="0">
                <a:solidFill>
                  <a:srgbClr val="033778"/>
                </a:solidFill>
                <a:latin typeface="Source Sans Pro" pitchFamily="34" charset="0"/>
                <a:ea typeface="Source Sans Pro" pitchFamily="34" charset="-122"/>
                <a:cs typeface="Source Sans Pro" pitchFamily="34" charset="-120"/>
              </a:rPr>
              <a:t>Froglet Stage</a:t>
            </a:r>
            <a:endParaRPr lang="en-US" sz="1100" dirty="0"/>
          </a:p>
        </p:txBody>
      </p:sp>
      <p:sp>
        <p:nvSpPr>
          <p:cNvPr id="17" name="Text 15"/>
          <p:cNvSpPr/>
          <p:nvPr/>
        </p:nvSpPr>
        <p:spPr>
          <a:xfrm>
            <a:off x="3931920" y="2743200"/>
            <a:ext cx="1554480" cy="1828800"/>
          </a:xfrm>
          <a:prstGeom prst="rect">
            <a:avLst/>
          </a:prstGeom>
          <a:noFill/>
          <a:ln/>
        </p:spPr>
        <p:txBody>
          <a:bodyPr wrap="square" rtlCol="0" anchor="t"/>
          <a:lstStyle/>
          <a:p>
            <a:pPr algn="ctr" indent="0" marL="0">
              <a:buNone/>
            </a:pPr>
            <a:r>
              <a:rPr lang="en-US" sz="1000" dirty="0">
                <a:solidFill>
                  <a:srgbClr val="3C3C3B"/>
                </a:solidFill>
                <a:latin typeface="Source Sans Pro" pitchFamily="34" charset="0"/>
                <a:ea typeface="Source Sans Pro" pitchFamily="34" charset="-122"/>
                <a:cs typeface="Source Sans Pro" pitchFamily="34" charset="-120"/>
              </a:rPr>
              <a:t>Transition to land, requires lung development.</a:t>
            </a:r>
            <a:endParaRPr lang="en-US" sz="1000" dirty="0"/>
          </a:p>
        </p:txBody>
      </p:sp>
      <p:sp>
        <p:nvSpPr>
          <p:cNvPr id="18" name="Shape 16"/>
          <p:cNvSpPr/>
          <p:nvPr/>
        </p:nvSpPr>
        <p:spPr>
          <a:xfrm>
            <a:off x="6126480" y="1737360"/>
            <a:ext cx="457200" cy="457200"/>
          </a:xfrm>
          <a:prstGeom prst="ellipse">
            <a:avLst/>
          </a:prstGeom>
          <a:solidFill>
            <a:srgbClr val="033778"/>
          </a:solidFill>
          <a:ln/>
        </p:spPr>
      </p:sp>
      <p:sp>
        <p:nvSpPr>
          <p:cNvPr id="19" name="Text 17"/>
          <p:cNvSpPr/>
          <p:nvPr/>
        </p:nvSpPr>
        <p:spPr>
          <a:xfrm>
            <a:off x="6126480" y="1737360"/>
            <a:ext cx="457200" cy="457200"/>
          </a:xfrm>
          <a:prstGeom prst="rect">
            <a:avLst/>
          </a:prstGeom>
          <a:noFill/>
          <a:ln/>
        </p:spPr>
        <p:txBody>
          <a:bodyPr wrap="square" rtlCol="0" anchor="ctr"/>
          <a:lstStyle/>
          <a:p>
            <a:pPr algn="ctr" indent="0" marL="0">
              <a:buNone/>
            </a:pPr>
            <a:r>
              <a:rPr lang="en-US" sz="1400" b="1" dirty="0">
                <a:solidFill>
                  <a:srgbClr val="FFFFFF"/>
                </a:solidFill>
                <a:latin typeface="Source Sans Pro" pitchFamily="34" charset="0"/>
                <a:ea typeface="Source Sans Pro" pitchFamily="34" charset="-122"/>
                <a:cs typeface="Source Sans Pro" pitchFamily="34" charset="-120"/>
              </a:rPr>
              <a:t>4</a:t>
            </a:r>
            <a:endParaRPr lang="en-US" sz="1400" dirty="0"/>
          </a:p>
        </p:txBody>
      </p:sp>
      <p:sp>
        <p:nvSpPr>
          <p:cNvPr id="20" name="Text 18"/>
          <p:cNvSpPr/>
          <p:nvPr/>
        </p:nvSpPr>
        <p:spPr>
          <a:xfrm>
            <a:off x="5623560" y="2331720"/>
            <a:ext cx="1554480" cy="365760"/>
          </a:xfrm>
          <a:prstGeom prst="rect">
            <a:avLst/>
          </a:prstGeom>
          <a:noFill/>
          <a:ln/>
        </p:spPr>
        <p:txBody>
          <a:bodyPr wrap="square" rtlCol="0" anchor="ctr"/>
          <a:lstStyle/>
          <a:p>
            <a:pPr algn="ctr" indent="0" marL="0">
              <a:buNone/>
            </a:pPr>
            <a:r>
              <a:rPr lang="en-US" sz="1100" b="1" dirty="0">
                <a:solidFill>
                  <a:srgbClr val="033778"/>
                </a:solidFill>
                <a:latin typeface="Source Sans Pro" pitchFamily="34" charset="0"/>
                <a:ea typeface="Source Sans Pro" pitchFamily="34" charset="-122"/>
                <a:cs typeface="Source Sans Pro" pitchFamily="34" charset="-120"/>
              </a:rPr>
              <a:t>Adult Stage</a:t>
            </a:r>
            <a:endParaRPr lang="en-US" sz="1100" dirty="0"/>
          </a:p>
        </p:txBody>
      </p:sp>
      <p:sp>
        <p:nvSpPr>
          <p:cNvPr id="21" name="Text 19"/>
          <p:cNvSpPr/>
          <p:nvPr/>
        </p:nvSpPr>
        <p:spPr>
          <a:xfrm>
            <a:off x="5623560" y="2743200"/>
            <a:ext cx="1554480" cy="1828800"/>
          </a:xfrm>
          <a:prstGeom prst="rect">
            <a:avLst/>
          </a:prstGeom>
          <a:noFill/>
          <a:ln/>
        </p:spPr>
        <p:txBody>
          <a:bodyPr wrap="square" rtlCol="0" anchor="t"/>
          <a:lstStyle/>
          <a:p>
            <a:pPr algn="ctr" indent="0" marL="0">
              <a:buNone/>
            </a:pPr>
            <a:r>
              <a:rPr lang="en-US" sz="1000" dirty="0">
                <a:solidFill>
                  <a:srgbClr val="3C3C3B"/>
                </a:solidFill>
                <a:latin typeface="Source Sans Pro" pitchFamily="34" charset="0"/>
                <a:ea typeface="Source Sans Pro" pitchFamily="34" charset="-122"/>
                <a:cs typeface="Source Sans Pro" pitchFamily="34" charset="-120"/>
              </a:rPr>
              <a:t>Survival depends on habitat and food availability.</a:t>
            </a:r>
            <a:endParaRPr lang="en-US" sz="1000" dirty="0"/>
          </a:p>
        </p:txBody>
      </p:sp>
      <p:sp>
        <p:nvSpPr>
          <p:cNvPr id="22" name="Text 20"/>
          <p:cNvSpPr/>
          <p:nvPr/>
        </p:nvSpPr>
        <p:spPr>
          <a:xfrm>
            <a:off x="274320" y="137160"/>
            <a:ext cx="1828800" cy="228600"/>
          </a:xfrm>
          <a:prstGeom prst="rect">
            <a:avLst/>
          </a:prstGeom>
          <a:noFill/>
          <a:ln/>
        </p:spPr>
        <p:txBody>
          <a:bodyPr wrap="square" rtlCol="0" anchor="ctr"/>
          <a:lstStyle/>
          <a:p>
            <a:pPr indent="0" marL="0">
              <a:buNone/>
            </a:pPr>
            <a:r>
              <a:rPr lang="en-US" sz="800" dirty="0">
                <a:solidFill>
                  <a:srgbClr val="B1B0B1"/>
                </a:solidFill>
                <a:latin typeface="Source Sans Pro" pitchFamily="34" charset="0"/>
                <a:ea typeface="Source Sans Pro" pitchFamily="34" charset="-122"/>
                <a:cs typeface="Source Sans Pro" pitchFamily="34" charset="-120"/>
              </a:rPr>
              <a:t>Better ask ERNI</a:t>
            </a:r>
            <a:endParaRPr lang="en-US" sz="800" dirty="0"/>
          </a:p>
        </p:txBody>
      </p:sp>
      <p:sp>
        <p:nvSpPr>
          <p:cNvPr id="23" name="Text 21"/>
          <p:cNvSpPr/>
          <p:nvPr/>
        </p:nvSpPr>
        <p:spPr>
          <a:xfrm>
            <a:off x="8503920" y="137160"/>
            <a:ext cx="457200" cy="228600"/>
          </a:xfrm>
          <a:prstGeom prst="rect">
            <a:avLst/>
          </a:prstGeom>
          <a:noFill/>
          <a:ln/>
        </p:spPr>
        <p:txBody>
          <a:bodyPr wrap="square" rtlCol="0" anchor="ctr"/>
          <a:lstStyle/>
          <a:p>
            <a:pPr algn="r" indent="0" marL="0">
              <a:buNone/>
            </a:pPr>
            <a:r>
              <a:rPr lang="en-US" sz="800" dirty="0">
                <a:solidFill>
                  <a:srgbClr val="B1B0B1"/>
                </a:solidFill>
                <a:latin typeface="Source Sans Pro" pitchFamily="34" charset="0"/>
                <a:ea typeface="Source Sans Pro" pitchFamily="34" charset="-122"/>
                <a:cs typeface="Source Sans Pro"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0"/>
            <a:ext cx="8229600" cy="731520"/>
          </a:xfrm>
          <a:prstGeom prst="rect">
            <a:avLst/>
          </a:prstGeom>
          <a:noFill/>
          <a:ln/>
        </p:spPr>
        <p:txBody>
          <a:bodyPr wrap="square" rtlCol="0" anchor="ctr"/>
          <a:lstStyle/>
          <a:p>
            <a:pPr algn="ctr" indent="0" marL="0">
              <a:buNone/>
            </a:pPr>
            <a:r>
              <a:rPr lang="en-US" sz="2400" b="1" dirty="0">
                <a:solidFill>
                  <a:srgbClr val="033778"/>
                </a:solidFill>
                <a:latin typeface="Source Sans Pro" pitchFamily="34" charset="0"/>
                <a:ea typeface="Source Sans Pro" pitchFamily="34" charset="-122"/>
                <a:cs typeface="Source Sans Pro" pitchFamily="34" charset="-120"/>
              </a:rPr>
              <a:t>Conclusion</a:t>
            </a:r>
            <a:endParaRPr lang="en-US" sz="2400" dirty="0"/>
          </a:p>
        </p:txBody>
      </p:sp>
      <p:sp>
        <p:nvSpPr>
          <p:cNvPr id="3" name="Text 1"/>
          <p:cNvSpPr/>
          <p:nvPr/>
        </p:nvSpPr>
        <p:spPr>
          <a:xfrm>
            <a:off x="1828800" y="2560320"/>
            <a:ext cx="5486400" cy="1371600"/>
          </a:xfrm>
          <a:prstGeom prst="rect">
            <a:avLst/>
          </a:prstGeom>
          <a:noFill/>
          <a:ln/>
        </p:spPr>
        <p:txBody>
          <a:bodyPr wrap="square" rtlCol="0" anchor="t"/>
          <a:lstStyle/>
          <a:p>
            <a:pPr algn="ctr" indent="0" marL="0">
              <a:buNone/>
            </a:pPr>
            <a:r>
              <a:rPr lang="en-US" sz="1200" dirty="0">
                <a:solidFill>
                  <a:srgbClr val="3C3C3B"/>
                </a:solidFill>
                <a:latin typeface="Source Sans Pro" pitchFamily="34" charset="0"/>
                <a:ea typeface="Source Sans Pro" pitchFamily="34" charset="-122"/>
                <a:cs typeface="Source Sans Pro" pitchFamily="34" charset="-120"/>
              </a:rPr>
              <a:t>Understanding the frog lifecycle enhances appreciation for their role in ecosystems and biodiversity. Each stage is a testament to their adaptability and importance in the natural world.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Lifecycle of Frogs</dc:title>
  <dc:subject>PptxGenJS Presentation</dc:subject>
  <dc:creator>ERNI PPTX Generator</dc:creator>
  <cp:lastModifiedBy>ERNI PPTX Generator</cp:lastModifiedBy>
  <cp:revision>1</cp:revision>
  <dcterms:created xsi:type="dcterms:W3CDTF">2026-06-10T08:56:57Z</dcterms:created>
  <dcterms:modified xsi:type="dcterms:W3CDTF">2026-06-10T08:56:57Z</dcterms:modified>
</cp:coreProperties>
</file>