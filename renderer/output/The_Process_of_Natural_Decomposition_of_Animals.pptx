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xtpedj\Desktop\PPTX-generator-demo\skill\erni-powerpoint-builder\assets\images\green-palm-lines-79.jpg">    </p:cNvPr>
          <p:cNvPicPr>
            <a:picLocks noChangeAspect="1"/>
          </p:cNvPicPr>
          <p:nvPr/>
        </p:nvPicPr>
        <p:blipFill>
          <a:blip r:embed="rId1"/>
          <a:srcRect l="0" r="0" t="0" b="0"/>
          <a:stretch/>
        </p:blipFill>
        <p:spPr>
          <a:xfrm>
            <a:off x="6099048" y="0"/>
            <a:ext cx="6089904" cy="6858000"/>
          </a:xfrm>
          <a:prstGeom prst="rect">
            <a:avLst/>
          </a:prstGeom>
        </p:spPr>
      </p:pic>
      <p:sp>
        <p:nvSpPr>
          <p:cNvPr id="3" name="Text 0"/>
          <p:cNvSpPr/>
          <p:nvPr/>
        </p:nvSpPr>
        <p:spPr>
          <a:xfrm>
            <a:off x="731520" y="2194560"/>
            <a:ext cx="5029200" cy="1645920"/>
          </a:xfrm>
          <a:prstGeom prst="rect">
            <a:avLst/>
          </a:prstGeom>
          <a:noFill/>
          <a:ln/>
        </p:spPr>
        <p:txBody>
          <a:bodyPr wrap="square" rtlCol="0" anchor="b"/>
          <a:lstStyle/>
          <a:p>
            <a:pPr indent="0" marL="0">
              <a:buNone/>
            </a:pPr>
            <a:r>
              <a:rPr lang="en-US" sz="3600" b="1" dirty="0">
                <a:solidFill>
                  <a:srgbClr val="033778"/>
                </a:solidFill>
                <a:latin typeface="Source Sans Pro" pitchFamily="34" charset="0"/>
                <a:ea typeface="Source Sans Pro" pitchFamily="34" charset="-122"/>
                <a:cs typeface="Source Sans Pro" pitchFamily="34" charset="-120"/>
              </a:rPr>
              <a:t>Understanding Natural Decomposition</a:t>
            </a:r>
            <a:endParaRPr lang="en-US" sz="3600" dirty="0"/>
          </a:p>
        </p:txBody>
      </p:sp>
      <p:sp>
        <p:nvSpPr>
          <p:cNvPr id="4" name="Text 1"/>
          <p:cNvSpPr/>
          <p:nvPr/>
        </p:nvSpPr>
        <p:spPr>
          <a:xfrm>
            <a:off x="731520" y="4023360"/>
            <a:ext cx="5029200" cy="914400"/>
          </a:xfrm>
          <a:prstGeom prst="rect">
            <a:avLst/>
          </a:prstGeom>
          <a:noFill/>
          <a:ln/>
        </p:spPr>
        <p:txBody>
          <a:bodyPr wrap="square" rtlCol="0" anchor="ctr"/>
          <a:lstStyle/>
          <a:p>
            <a:pPr indent="0" marL="0">
              <a:buNone/>
            </a:pPr>
            <a:r>
              <a:rPr lang="en-US" sz="1800" dirty="0">
                <a:solidFill>
                  <a:srgbClr val="3C3C3B"/>
                </a:solidFill>
                <a:latin typeface="Source Sans Pro" pitchFamily="34" charset="0"/>
                <a:ea typeface="Source Sans Pro" pitchFamily="34" charset="-122"/>
                <a:cs typeface="Source Sans Pro" pitchFamily="34" charset="-120"/>
              </a:rPr>
              <a:t>Explore the fascinating process of how animals naturally decompose and contribute to the ecosystem.</a:t>
            </a:r>
            <a:endParaRPr lang="en-US" sz="18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Agenda</a:t>
            </a:r>
            <a:endParaRPr lang="en-US" sz="2600" dirty="0"/>
          </a:p>
        </p:txBody>
      </p:sp>
      <p:sp>
        <p:nvSpPr>
          <p:cNvPr id="3" name="Text 1"/>
          <p:cNvSpPr/>
          <p:nvPr/>
        </p:nvSpPr>
        <p:spPr>
          <a:xfrm>
            <a:off x="731520" y="2103120"/>
            <a:ext cx="10725912" cy="146304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This presentation will cover the following topics: Overview, Decomposition Stages, Role in Ecosystems, Influencing Factors, and Conclusion.</a:t>
            </a:r>
            <a:endParaRPr lang="en-US" sz="1400" dirty="0"/>
          </a:p>
        </p:txBody>
      </p:sp>
      <p:sp>
        <p:nvSpPr>
          <p:cNvPr id="4"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extpedj\Desktop\PPTX-generator-demo\skill\erni-powerpoint-builder\assets\images\aqua-water-bubbles-84.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Introduction to Decomposition</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Natural decomposition is a crucial ecological process that recycles nutrients back into the ecosystem. It involves the breakdown of organic matter, returning essential elements to the soil. This process supports plant growth and maintains ecological balance.</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Stages of Decomposition</a:t>
            </a:r>
            <a:endParaRPr lang="en-US" sz="2600" dirty="0"/>
          </a:p>
        </p:txBody>
      </p:sp>
      <p:sp>
        <p:nvSpPr>
          <p:cNvPr id="3" name="Shape 1"/>
          <p:cNvSpPr/>
          <p:nvPr/>
        </p:nvSpPr>
        <p:spPr>
          <a:xfrm>
            <a:off x="1456639" y="2286000"/>
            <a:ext cx="548640" cy="548640"/>
          </a:xfrm>
          <a:prstGeom prst="ellipse">
            <a:avLst/>
          </a:prstGeom>
          <a:solidFill>
            <a:srgbClr val="033778"/>
          </a:solidFill>
          <a:ln/>
        </p:spPr>
      </p:sp>
      <p:sp>
        <p:nvSpPr>
          <p:cNvPr id="4" name="Text 2"/>
          <p:cNvSpPr/>
          <p:nvPr/>
        </p:nvSpPr>
        <p:spPr>
          <a:xfrm>
            <a:off x="1456639"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1</a:t>
            </a:r>
            <a:endParaRPr lang="en-US" sz="1600" dirty="0"/>
          </a:p>
        </p:txBody>
      </p:sp>
      <p:sp>
        <p:nvSpPr>
          <p:cNvPr id="5" name="Shape 3"/>
          <p:cNvSpPr/>
          <p:nvPr/>
        </p:nvSpPr>
        <p:spPr>
          <a:xfrm>
            <a:off x="2748686" y="2560320"/>
            <a:ext cx="146304" cy="0"/>
          </a:xfrm>
          <a:prstGeom prst="line">
            <a:avLst/>
          </a:prstGeom>
          <a:noFill/>
          <a:ln w="19050">
            <a:solidFill>
              <a:srgbClr val="033778"/>
            </a:solidFill>
            <a:prstDash val="solid"/>
          </a:ln>
        </p:spPr>
      </p:sp>
      <p:sp>
        <p:nvSpPr>
          <p:cNvPr id="6" name="Text 4"/>
          <p:cNvSpPr/>
          <p:nvPr/>
        </p:nvSpPr>
        <p:spPr>
          <a:xfrm>
            <a:off x="731520" y="3017520"/>
            <a:ext cx="199887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Fresh</a:t>
            </a:r>
            <a:endParaRPr lang="en-US" sz="1300" dirty="0"/>
          </a:p>
        </p:txBody>
      </p:sp>
      <p:sp>
        <p:nvSpPr>
          <p:cNvPr id="7" name="Text 5"/>
          <p:cNvSpPr/>
          <p:nvPr/>
        </p:nvSpPr>
        <p:spPr>
          <a:xfrm>
            <a:off x="731520" y="3566160"/>
            <a:ext cx="199887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Begins immediately after death, with internal bacteria starting decomposition.</a:t>
            </a:r>
            <a:endParaRPr lang="en-US" sz="1100" dirty="0"/>
          </a:p>
        </p:txBody>
      </p:sp>
      <p:sp>
        <p:nvSpPr>
          <p:cNvPr id="8" name="Shape 6"/>
          <p:cNvSpPr/>
          <p:nvPr/>
        </p:nvSpPr>
        <p:spPr>
          <a:xfrm>
            <a:off x="3638398" y="2286000"/>
            <a:ext cx="548640" cy="548640"/>
          </a:xfrm>
          <a:prstGeom prst="ellipse">
            <a:avLst/>
          </a:prstGeom>
          <a:solidFill>
            <a:srgbClr val="033778"/>
          </a:solidFill>
          <a:ln/>
        </p:spPr>
      </p:sp>
      <p:sp>
        <p:nvSpPr>
          <p:cNvPr id="9" name="Text 7"/>
          <p:cNvSpPr/>
          <p:nvPr/>
        </p:nvSpPr>
        <p:spPr>
          <a:xfrm>
            <a:off x="3638398"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2</a:t>
            </a:r>
            <a:endParaRPr lang="en-US" sz="1600" dirty="0"/>
          </a:p>
        </p:txBody>
      </p:sp>
      <p:sp>
        <p:nvSpPr>
          <p:cNvPr id="10" name="Shape 8"/>
          <p:cNvSpPr/>
          <p:nvPr/>
        </p:nvSpPr>
        <p:spPr>
          <a:xfrm>
            <a:off x="4930445" y="2560320"/>
            <a:ext cx="146304" cy="0"/>
          </a:xfrm>
          <a:prstGeom prst="line">
            <a:avLst/>
          </a:prstGeom>
          <a:noFill/>
          <a:ln w="19050">
            <a:solidFill>
              <a:srgbClr val="033778"/>
            </a:solidFill>
            <a:prstDash val="solid"/>
          </a:ln>
        </p:spPr>
      </p:sp>
      <p:sp>
        <p:nvSpPr>
          <p:cNvPr id="11" name="Text 9"/>
          <p:cNvSpPr/>
          <p:nvPr/>
        </p:nvSpPr>
        <p:spPr>
          <a:xfrm>
            <a:off x="2913278" y="3017520"/>
            <a:ext cx="199887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Bloat</a:t>
            </a:r>
            <a:endParaRPr lang="en-US" sz="1300" dirty="0"/>
          </a:p>
        </p:txBody>
      </p:sp>
      <p:sp>
        <p:nvSpPr>
          <p:cNvPr id="12" name="Text 10"/>
          <p:cNvSpPr/>
          <p:nvPr/>
        </p:nvSpPr>
        <p:spPr>
          <a:xfrm>
            <a:off x="2913278" y="3566160"/>
            <a:ext cx="199887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Gases produced by bacteria cause the body to bloat, attracting insects.</a:t>
            </a:r>
            <a:endParaRPr lang="en-US" sz="1100" dirty="0"/>
          </a:p>
        </p:txBody>
      </p:sp>
      <p:sp>
        <p:nvSpPr>
          <p:cNvPr id="13" name="Shape 11"/>
          <p:cNvSpPr/>
          <p:nvPr/>
        </p:nvSpPr>
        <p:spPr>
          <a:xfrm>
            <a:off x="5820156" y="2286000"/>
            <a:ext cx="548640" cy="548640"/>
          </a:xfrm>
          <a:prstGeom prst="ellipse">
            <a:avLst/>
          </a:prstGeom>
          <a:solidFill>
            <a:srgbClr val="033778"/>
          </a:solidFill>
          <a:ln/>
        </p:spPr>
      </p:sp>
      <p:sp>
        <p:nvSpPr>
          <p:cNvPr id="14" name="Text 12"/>
          <p:cNvSpPr/>
          <p:nvPr/>
        </p:nvSpPr>
        <p:spPr>
          <a:xfrm>
            <a:off x="5820156"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3</a:t>
            </a:r>
            <a:endParaRPr lang="en-US" sz="1600" dirty="0"/>
          </a:p>
        </p:txBody>
      </p:sp>
      <p:sp>
        <p:nvSpPr>
          <p:cNvPr id="15" name="Shape 13"/>
          <p:cNvSpPr/>
          <p:nvPr/>
        </p:nvSpPr>
        <p:spPr>
          <a:xfrm>
            <a:off x="7112203" y="2560320"/>
            <a:ext cx="146304" cy="0"/>
          </a:xfrm>
          <a:prstGeom prst="line">
            <a:avLst/>
          </a:prstGeom>
          <a:noFill/>
          <a:ln w="19050">
            <a:solidFill>
              <a:srgbClr val="033778"/>
            </a:solidFill>
            <a:prstDash val="solid"/>
          </a:ln>
        </p:spPr>
      </p:sp>
      <p:sp>
        <p:nvSpPr>
          <p:cNvPr id="16" name="Text 14"/>
          <p:cNvSpPr/>
          <p:nvPr/>
        </p:nvSpPr>
        <p:spPr>
          <a:xfrm>
            <a:off x="5095037" y="3017520"/>
            <a:ext cx="199887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Active Decay</a:t>
            </a:r>
            <a:endParaRPr lang="en-US" sz="1300" dirty="0"/>
          </a:p>
        </p:txBody>
      </p:sp>
      <p:sp>
        <p:nvSpPr>
          <p:cNvPr id="17" name="Text 15"/>
          <p:cNvSpPr/>
          <p:nvPr/>
        </p:nvSpPr>
        <p:spPr>
          <a:xfrm>
            <a:off x="5095037" y="3566160"/>
            <a:ext cx="199887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Body mass decreases significantly as tissues break down.</a:t>
            </a:r>
            <a:endParaRPr lang="en-US" sz="1100" dirty="0"/>
          </a:p>
        </p:txBody>
      </p:sp>
      <p:sp>
        <p:nvSpPr>
          <p:cNvPr id="18" name="Shape 16"/>
          <p:cNvSpPr/>
          <p:nvPr/>
        </p:nvSpPr>
        <p:spPr>
          <a:xfrm>
            <a:off x="8001914" y="2286000"/>
            <a:ext cx="548640" cy="548640"/>
          </a:xfrm>
          <a:prstGeom prst="ellipse">
            <a:avLst/>
          </a:prstGeom>
          <a:solidFill>
            <a:srgbClr val="033778"/>
          </a:solidFill>
          <a:ln/>
        </p:spPr>
      </p:sp>
      <p:sp>
        <p:nvSpPr>
          <p:cNvPr id="19" name="Text 17"/>
          <p:cNvSpPr/>
          <p:nvPr/>
        </p:nvSpPr>
        <p:spPr>
          <a:xfrm>
            <a:off x="8001914"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4</a:t>
            </a:r>
            <a:endParaRPr lang="en-US" sz="1600" dirty="0"/>
          </a:p>
        </p:txBody>
      </p:sp>
      <p:sp>
        <p:nvSpPr>
          <p:cNvPr id="20" name="Shape 18"/>
          <p:cNvSpPr/>
          <p:nvPr/>
        </p:nvSpPr>
        <p:spPr>
          <a:xfrm>
            <a:off x="9293962" y="2560320"/>
            <a:ext cx="146304" cy="0"/>
          </a:xfrm>
          <a:prstGeom prst="line">
            <a:avLst/>
          </a:prstGeom>
          <a:noFill/>
          <a:ln w="19050">
            <a:solidFill>
              <a:srgbClr val="033778"/>
            </a:solidFill>
            <a:prstDash val="solid"/>
          </a:ln>
        </p:spPr>
      </p:sp>
      <p:sp>
        <p:nvSpPr>
          <p:cNvPr id="21" name="Text 19"/>
          <p:cNvSpPr/>
          <p:nvPr/>
        </p:nvSpPr>
        <p:spPr>
          <a:xfrm>
            <a:off x="7276795" y="3017520"/>
            <a:ext cx="199887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Advanced Decay</a:t>
            </a:r>
            <a:endParaRPr lang="en-US" sz="1300" dirty="0"/>
          </a:p>
        </p:txBody>
      </p:sp>
      <p:sp>
        <p:nvSpPr>
          <p:cNvPr id="22" name="Text 20"/>
          <p:cNvSpPr/>
          <p:nvPr/>
        </p:nvSpPr>
        <p:spPr>
          <a:xfrm>
            <a:off x="7276795" y="3566160"/>
            <a:ext cx="199887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Most of the body is decomposed, leaving behind bones and hair.</a:t>
            </a:r>
            <a:endParaRPr lang="en-US" sz="1100" dirty="0"/>
          </a:p>
        </p:txBody>
      </p:sp>
      <p:sp>
        <p:nvSpPr>
          <p:cNvPr id="23" name="Shape 21"/>
          <p:cNvSpPr/>
          <p:nvPr/>
        </p:nvSpPr>
        <p:spPr>
          <a:xfrm>
            <a:off x="10183673" y="2286000"/>
            <a:ext cx="548640" cy="548640"/>
          </a:xfrm>
          <a:prstGeom prst="ellipse">
            <a:avLst/>
          </a:prstGeom>
          <a:solidFill>
            <a:srgbClr val="033778"/>
          </a:solidFill>
          <a:ln/>
        </p:spPr>
      </p:sp>
      <p:sp>
        <p:nvSpPr>
          <p:cNvPr id="24" name="Text 22"/>
          <p:cNvSpPr/>
          <p:nvPr/>
        </p:nvSpPr>
        <p:spPr>
          <a:xfrm>
            <a:off x="10183673"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5</a:t>
            </a:r>
            <a:endParaRPr lang="en-US" sz="1600" dirty="0"/>
          </a:p>
        </p:txBody>
      </p:sp>
      <p:sp>
        <p:nvSpPr>
          <p:cNvPr id="25" name="Text 23"/>
          <p:cNvSpPr/>
          <p:nvPr/>
        </p:nvSpPr>
        <p:spPr>
          <a:xfrm>
            <a:off x="9458554" y="3017520"/>
            <a:ext cx="199887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Dry Remains</a:t>
            </a:r>
            <a:endParaRPr lang="en-US" sz="1300" dirty="0"/>
          </a:p>
        </p:txBody>
      </p:sp>
      <p:sp>
        <p:nvSpPr>
          <p:cNvPr id="26" name="Text 24"/>
          <p:cNvSpPr/>
          <p:nvPr/>
        </p:nvSpPr>
        <p:spPr>
          <a:xfrm>
            <a:off x="9458554" y="3566160"/>
            <a:ext cx="199887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Only dry skin, bones, and hair remain, completing the decomposition process.</a:t>
            </a:r>
            <a:endParaRPr lang="en-US" sz="1100" dirty="0"/>
          </a:p>
        </p:txBody>
      </p:sp>
      <p:sp>
        <p:nvSpPr>
          <p:cNvPr id="27" name="Text 25"/>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28" name="Text 26"/>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Role in Ecosystems</a:t>
            </a:r>
            <a:endParaRPr lang="en-US" sz="2600" dirty="0"/>
          </a:p>
        </p:txBody>
      </p:sp>
      <p:sp>
        <p:nvSpPr>
          <p:cNvPr id="3" name="Text 1"/>
          <p:cNvSpPr/>
          <p:nvPr/>
        </p:nvSpPr>
        <p:spPr>
          <a:xfrm>
            <a:off x="731520" y="2926080"/>
            <a:ext cx="3291840" cy="457200"/>
          </a:xfrm>
          <a:prstGeom prst="rect">
            <a:avLst/>
          </a:prstGeom>
          <a:noFill/>
          <a:ln/>
        </p:spPr>
        <p:txBody>
          <a:bodyPr wrap="square" rtlCol="0" anchor="ctr"/>
          <a:lstStyle/>
          <a:p>
            <a:pPr indent="0" marL="0">
              <a:buNone/>
            </a:pPr>
            <a:r>
              <a:rPr lang="en-US" sz="1600" b="1" dirty="0">
                <a:solidFill>
                  <a:srgbClr val="033778"/>
                </a:solidFill>
                <a:latin typeface="Source Sans Pro" pitchFamily="34" charset="0"/>
                <a:ea typeface="Source Sans Pro" pitchFamily="34" charset="-122"/>
                <a:cs typeface="Source Sans Pro" pitchFamily="34" charset="-120"/>
              </a:rPr>
              <a:t>Soil Fertility</a:t>
            </a:r>
            <a:endParaRPr lang="en-US" sz="1600" dirty="0"/>
          </a:p>
        </p:txBody>
      </p:sp>
      <p:sp>
        <p:nvSpPr>
          <p:cNvPr id="4" name="Text 2"/>
          <p:cNvSpPr/>
          <p:nvPr/>
        </p:nvSpPr>
        <p:spPr>
          <a:xfrm>
            <a:off x="731520" y="3474720"/>
            <a:ext cx="3291840" cy="256032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Decomposition enriches the soil with nutrients, supporting plant growth.</a:t>
            </a:r>
            <a:endParaRPr lang="en-US" sz="1200" dirty="0"/>
          </a:p>
        </p:txBody>
      </p:sp>
      <p:sp>
        <p:nvSpPr>
          <p:cNvPr id="5" name="Shape 3"/>
          <p:cNvSpPr/>
          <p:nvPr/>
        </p:nvSpPr>
        <p:spPr>
          <a:xfrm>
            <a:off x="4206240" y="2194560"/>
            <a:ext cx="0" cy="3657600"/>
          </a:xfrm>
          <a:prstGeom prst="line">
            <a:avLst/>
          </a:prstGeom>
          <a:noFill/>
          <a:ln w="12700">
            <a:solidFill>
              <a:srgbClr val="033778"/>
            </a:solidFill>
            <a:prstDash val="solid"/>
          </a:ln>
        </p:spPr>
      </p:sp>
      <p:sp>
        <p:nvSpPr>
          <p:cNvPr id="6" name="Text 4"/>
          <p:cNvSpPr/>
          <p:nvPr/>
        </p:nvSpPr>
        <p:spPr>
          <a:xfrm>
            <a:off x="4389120" y="2926080"/>
            <a:ext cx="3291840" cy="457200"/>
          </a:xfrm>
          <a:prstGeom prst="rect">
            <a:avLst/>
          </a:prstGeom>
          <a:noFill/>
          <a:ln/>
        </p:spPr>
        <p:txBody>
          <a:bodyPr wrap="square" rtlCol="0" anchor="ctr"/>
          <a:lstStyle/>
          <a:p>
            <a:pPr indent="0" marL="0">
              <a:buNone/>
            </a:pPr>
            <a:r>
              <a:rPr lang="en-US" sz="1600" b="1" dirty="0">
                <a:solidFill>
                  <a:srgbClr val="033778"/>
                </a:solidFill>
                <a:latin typeface="Source Sans Pro" pitchFamily="34" charset="0"/>
                <a:ea typeface="Source Sans Pro" pitchFamily="34" charset="-122"/>
                <a:cs typeface="Source Sans Pro" pitchFamily="34" charset="-120"/>
              </a:rPr>
              <a:t>Nutrient Cycling</a:t>
            </a:r>
            <a:endParaRPr lang="en-US" sz="1600" dirty="0"/>
          </a:p>
        </p:txBody>
      </p:sp>
      <p:sp>
        <p:nvSpPr>
          <p:cNvPr id="7" name="Text 5"/>
          <p:cNvSpPr/>
          <p:nvPr/>
        </p:nvSpPr>
        <p:spPr>
          <a:xfrm>
            <a:off x="4389120" y="3474720"/>
            <a:ext cx="3291840" cy="256032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Recycles essential elements back into the ecosystem, maintaining balance.</a:t>
            </a:r>
            <a:endParaRPr lang="en-US" sz="1200" dirty="0"/>
          </a:p>
        </p:txBody>
      </p:sp>
      <p:sp>
        <p:nvSpPr>
          <p:cNvPr id="8" name="Shape 6"/>
          <p:cNvSpPr/>
          <p:nvPr/>
        </p:nvSpPr>
        <p:spPr>
          <a:xfrm>
            <a:off x="7863840" y="2194560"/>
            <a:ext cx="0" cy="3657600"/>
          </a:xfrm>
          <a:prstGeom prst="line">
            <a:avLst/>
          </a:prstGeom>
          <a:noFill/>
          <a:ln w="12700">
            <a:solidFill>
              <a:srgbClr val="033778"/>
            </a:solidFill>
            <a:prstDash val="solid"/>
          </a:ln>
        </p:spPr>
      </p:sp>
      <p:sp>
        <p:nvSpPr>
          <p:cNvPr id="9" name="Text 7"/>
          <p:cNvSpPr/>
          <p:nvPr/>
        </p:nvSpPr>
        <p:spPr>
          <a:xfrm>
            <a:off x="8046720" y="2926080"/>
            <a:ext cx="3291840" cy="457200"/>
          </a:xfrm>
          <a:prstGeom prst="rect">
            <a:avLst/>
          </a:prstGeom>
          <a:noFill/>
          <a:ln/>
        </p:spPr>
        <p:txBody>
          <a:bodyPr wrap="square" rtlCol="0" anchor="ctr"/>
          <a:lstStyle/>
          <a:p>
            <a:pPr indent="0" marL="0">
              <a:buNone/>
            </a:pPr>
            <a:r>
              <a:rPr lang="en-US" sz="1600" b="1" dirty="0">
                <a:solidFill>
                  <a:srgbClr val="033778"/>
                </a:solidFill>
                <a:latin typeface="Source Sans Pro" pitchFamily="34" charset="0"/>
                <a:ea typeface="Source Sans Pro" pitchFamily="34" charset="-122"/>
                <a:cs typeface="Source Sans Pro" pitchFamily="34" charset="-120"/>
              </a:rPr>
              <a:t>Food Web Support</a:t>
            </a:r>
            <a:endParaRPr lang="en-US" sz="1600" dirty="0"/>
          </a:p>
        </p:txBody>
      </p:sp>
      <p:sp>
        <p:nvSpPr>
          <p:cNvPr id="10" name="Text 8"/>
          <p:cNvSpPr/>
          <p:nvPr/>
        </p:nvSpPr>
        <p:spPr>
          <a:xfrm>
            <a:off x="8046720" y="3474720"/>
            <a:ext cx="3291840" cy="256032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Provides resources for decomposers, sustaining various food webs.</a:t>
            </a:r>
            <a:endParaRPr lang="en-US" sz="1200" dirty="0"/>
          </a:p>
        </p:txBody>
      </p:sp>
      <p:sp>
        <p:nvSpPr>
          <p:cNvPr id="11" name="Text 9"/>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12" name="Text 10"/>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extpedj\Desktop\PPTX-generator-demo\skill\erni-powerpoint-builder\assets\images\blue-geometric-triangles-61.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Scientific Observations</a:t>
            </a:r>
            <a:endParaRPr lang="en-US" sz="2600" dirty="0"/>
          </a:p>
        </p:txBody>
      </p:sp>
      <p:sp>
        <p:nvSpPr>
          <p:cNvPr id="4" name="Text 1"/>
          <p:cNvSpPr/>
          <p:nvPr/>
        </p:nvSpPr>
        <p:spPr>
          <a:xfrm>
            <a:off x="5943600" y="1645920"/>
            <a:ext cx="2560320" cy="438912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Research indicates that decomposition rates vary with environmental conditions, such as temperature and humidity. These variations affect nutrient availability, influencing plant and animal populations. Understanding these dynamics is crucial for managing ecosystems effectively.</a:t>
            </a:r>
            <a:endParaRPr lang="en-US" sz="1200" dirty="0"/>
          </a:p>
        </p:txBody>
      </p:sp>
      <p:sp>
        <p:nvSpPr>
          <p:cNvPr id="5" name="Text 2"/>
          <p:cNvSpPr/>
          <p:nvPr/>
        </p:nvSpPr>
        <p:spPr>
          <a:xfrm>
            <a:off x="8869680" y="1645920"/>
            <a:ext cx="2560320" cy="4389120"/>
          </a:xfrm>
          <a:prstGeom prst="rect">
            <a:avLst/>
          </a:prstGeom>
          <a:noFill/>
          <a:ln/>
        </p:spPr>
        <p:txBody>
          <a:bodyPr wrap="square" rtlCol="0" anchor="t"/>
          <a:lstStyle/>
          <a:p>
            <a:pPr indent="0" marL="0">
              <a:buNone/>
            </a:pPr>
            <a:endParaRPr lang="en-US" sz="1200" dirty="0"/>
          </a:p>
        </p:txBody>
      </p:sp>
      <p:sp>
        <p:nvSpPr>
          <p:cNvPr id="6" name="Text 3"/>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Factors Influencing Decomposition</a:t>
            </a:r>
            <a:endParaRPr lang="en-US" sz="2600" dirty="0"/>
          </a:p>
        </p:txBody>
      </p:sp>
      <p:sp>
        <p:nvSpPr>
          <p:cNvPr id="3" name="Shape 1"/>
          <p:cNvSpPr/>
          <p:nvPr/>
        </p:nvSpPr>
        <p:spPr>
          <a:xfrm>
            <a:off x="2183892" y="2286000"/>
            <a:ext cx="548640" cy="548640"/>
          </a:xfrm>
          <a:prstGeom prst="ellipse">
            <a:avLst/>
          </a:prstGeom>
          <a:solidFill>
            <a:srgbClr val="033778"/>
          </a:solidFill>
          <a:ln/>
        </p:spPr>
      </p:sp>
      <p:sp>
        <p:nvSpPr>
          <p:cNvPr id="4" name="Text 2"/>
          <p:cNvSpPr/>
          <p:nvPr/>
        </p:nvSpPr>
        <p:spPr>
          <a:xfrm>
            <a:off x="2183892"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1</a:t>
            </a:r>
            <a:endParaRPr lang="en-US" sz="1600" dirty="0"/>
          </a:p>
        </p:txBody>
      </p:sp>
      <p:sp>
        <p:nvSpPr>
          <p:cNvPr id="5" name="Shape 3"/>
          <p:cNvSpPr/>
          <p:nvPr/>
        </p:nvSpPr>
        <p:spPr>
          <a:xfrm>
            <a:off x="4203192" y="2560320"/>
            <a:ext cx="146304" cy="0"/>
          </a:xfrm>
          <a:prstGeom prst="line">
            <a:avLst/>
          </a:prstGeom>
          <a:noFill/>
          <a:ln w="19050">
            <a:solidFill>
              <a:srgbClr val="033778"/>
            </a:solidFill>
            <a:prstDash val="solid"/>
          </a:ln>
        </p:spPr>
      </p:sp>
      <p:sp>
        <p:nvSpPr>
          <p:cNvPr id="6" name="Text 4"/>
          <p:cNvSpPr/>
          <p:nvPr/>
        </p:nvSpPr>
        <p:spPr>
          <a:xfrm>
            <a:off x="731520" y="3017520"/>
            <a:ext cx="3453384"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Temperature</a:t>
            </a:r>
            <a:endParaRPr lang="en-US" sz="1300" dirty="0"/>
          </a:p>
        </p:txBody>
      </p:sp>
      <p:sp>
        <p:nvSpPr>
          <p:cNvPr id="7" name="Text 5"/>
          <p:cNvSpPr/>
          <p:nvPr/>
        </p:nvSpPr>
        <p:spPr>
          <a:xfrm>
            <a:off x="731520" y="3566160"/>
            <a:ext cx="3453384"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Higher temperatures accelerate decomposition by increasing microbial activity.</a:t>
            </a:r>
            <a:endParaRPr lang="en-US" sz="1100" dirty="0"/>
          </a:p>
        </p:txBody>
      </p:sp>
      <p:sp>
        <p:nvSpPr>
          <p:cNvPr id="8" name="Shape 6"/>
          <p:cNvSpPr/>
          <p:nvPr/>
        </p:nvSpPr>
        <p:spPr>
          <a:xfrm>
            <a:off x="5820156" y="2286000"/>
            <a:ext cx="548640" cy="548640"/>
          </a:xfrm>
          <a:prstGeom prst="ellipse">
            <a:avLst/>
          </a:prstGeom>
          <a:solidFill>
            <a:srgbClr val="033778"/>
          </a:solidFill>
          <a:ln/>
        </p:spPr>
      </p:sp>
      <p:sp>
        <p:nvSpPr>
          <p:cNvPr id="9" name="Text 7"/>
          <p:cNvSpPr/>
          <p:nvPr/>
        </p:nvSpPr>
        <p:spPr>
          <a:xfrm>
            <a:off x="5820156"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2</a:t>
            </a:r>
            <a:endParaRPr lang="en-US" sz="1600" dirty="0"/>
          </a:p>
        </p:txBody>
      </p:sp>
      <p:sp>
        <p:nvSpPr>
          <p:cNvPr id="10" name="Shape 8"/>
          <p:cNvSpPr/>
          <p:nvPr/>
        </p:nvSpPr>
        <p:spPr>
          <a:xfrm>
            <a:off x="7839456" y="2560320"/>
            <a:ext cx="146304" cy="0"/>
          </a:xfrm>
          <a:prstGeom prst="line">
            <a:avLst/>
          </a:prstGeom>
          <a:noFill/>
          <a:ln w="19050">
            <a:solidFill>
              <a:srgbClr val="033778"/>
            </a:solidFill>
            <a:prstDash val="solid"/>
          </a:ln>
        </p:spPr>
      </p:sp>
      <p:sp>
        <p:nvSpPr>
          <p:cNvPr id="11" name="Text 9"/>
          <p:cNvSpPr/>
          <p:nvPr/>
        </p:nvSpPr>
        <p:spPr>
          <a:xfrm>
            <a:off x="4367784" y="3017520"/>
            <a:ext cx="3453384"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Humidity</a:t>
            </a:r>
            <a:endParaRPr lang="en-US" sz="1300" dirty="0"/>
          </a:p>
        </p:txBody>
      </p:sp>
      <p:sp>
        <p:nvSpPr>
          <p:cNvPr id="12" name="Text 10"/>
          <p:cNvSpPr/>
          <p:nvPr/>
        </p:nvSpPr>
        <p:spPr>
          <a:xfrm>
            <a:off x="4367784" y="3566160"/>
            <a:ext cx="3453384"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Moist environments facilitate faster decomposition by supporting microbial growth.</a:t>
            </a:r>
            <a:endParaRPr lang="en-US" sz="1100" dirty="0"/>
          </a:p>
        </p:txBody>
      </p:sp>
      <p:sp>
        <p:nvSpPr>
          <p:cNvPr id="13" name="Shape 11"/>
          <p:cNvSpPr/>
          <p:nvPr/>
        </p:nvSpPr>
        <p:spPr>
          <a:xfrm>
            <a:off x="9456420" y="2286000"/>
            <a:ext cx="548640" cy="548640"/>
          </a:xfrm>
          <a:prstGeom prst="ellipse">
            <a:avLst/>
          </a:prstGeom>
          <a:solidFill>
            <a:srgbClr val="033778"/>
          </a:solidFill>
          <a:ln/>
        </p:spPr>
      </p:sp>
      <p:sp>
        <p:nvSpPr>
          <p:cNvPr id="14" name="Text 12"/>
          <p:cNvSpPr/>
          <p:nvPr/>
        </p:nvSpPr>
        <p:spPr>
          <a:xfrm>
            <a:off x="9456420"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3</a:t>
            </a:r>
            <a:endParaRPr lang="en-US" sz="1600" dirty="0"/>
          </a:p>
        </p:txBody>
      </p:sp>
      <p:sp>
        <p:nvSpPr>
          <p:cNvPr id="15" name="Text 13"/>
          <p:cNvSpPr/>
          <p:nvPr/>
        </p:nvSpPr>
        <p:spPr>
          <a:xfrm>
            <a:off x="8004048" y="3017520"/>
            <a:ext cx="3453384"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Decomposers</a:t>
            </a:r>
            <a:endParaRPr lang="en-US" sz="1300" dirty="0"/>
          </a:p>
        </p:txBody>
      </p:sp>
      <p:sp>
        <p:nvSpPr>
          <p:cNvPr id="16" name="Text 14"/>
          <p:cNvSpPr/>
          <p:nvPr/>
        </p:nvSpPr>
        <p:spPr>
          <a:xfrm>
            <a:off x="8004048" y="3566160"/>
            <a:ext cx="3453384"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The presence of insects and microbes speeds up the breakdown of organic matter.</a:t>
            </a:r>
            <a:endParaRPr lang="en-US" sz="1100" dirty="0"/>
          </a:p>
        </p:txBody>
      </p:sp>
      <p:sp>
        <p:nvSpPr>
          <p:cNvPr id="17" name="Text 15"/>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18" name="Text 16"/>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Measuring Decomposition</a:t>
            </a:r>
            <a:endParaRPr lang="en-US" sz="2600" dirty="0"/>
          </a:p>
        </p:txBody>
      </p:sp>
      <p:sp>
        <p:nvSpPr>
          <p:cNvPr id="3" name="Shape 1"/>
          <p:cNvSpPr/>
          <p:nvPr/>
        </p:nvSpPr>
        <p:spPr>
          <a:xfrm>
            <a:off x="731520" y="1645920"/>
            <a:ext cx="3291840" cy="2011680"/>
          </a:xfrm>
          <a:prstGeom prst="rect">
            <a:avLst>
              <a:gd name="adj" fmla="val 2273"/>
            </a:avLst>
          </a:prstGeom>
          <a:solidFill>
            <a:srgbClr val="F5F5F5"/>
          </a:solidFill>
          <a:ln/>
        </p:spPr>
      </p:sp>
      <p:sp>
        <p:nvSpPr>
          <p:cNvPr id="4" name="Text 2"/>
          <p:cNvSpPr/>
          <p:nvPr/>
        </p:nvSpPr>
        <p:spPr>
          <a:xfrm>
            <a:off x="73152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Mass Loss</a:t>
            </a:r>
            <a:endParaRPr lang="en-US" sz="3400" dirty="0"/>
          </a:p>
        </p:txBody>
      </p:sp>
      <p:sp>
        <p:nvSpPr>
          <p:cNvPr id="5" name="Text 3"/>
          <p:cNvSpPr/>
          <p:nvPr/>
        </p:nvSpPr>
        <p:spPr>
          <a:xfrm>
            <a:off x="73152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Tracking weight reduction over time.</a:t>
            </a:r>
            <a:endParaRPr lang="en-US" sz="1300" dirty="0"/>
          </a:p>
        </p:txBody>
      </p:sp>
      <p:sp>
        <p:nvSpPr>
          <p:cNvPr id="6" name="Shape 4"/>
          <p:cNvSpPr/>
          <p:nvPr/>
        </p:nvSpPr>
        <p:spPr>
          <a:xfrm>
            <a:off x="4343400" y="1645920"/>
            <a:ext cx="3291840" cy="2011680"/>
          </a:xfrm>
          <a:prstGeom prst="rect">
            <a:avLst>
              <a:gd name="adj" fmla="val 2273"/>
            </a:avLst>
          </a:prstGeom>
          <a:solidFill>
            <a:srgbClr val="F5F5F5"/>
          </a:solidFill>
          <a:ln/>
        </p:spPr>
      </p:sp>
      <p:sp>
        <p:nvSpPr>
          <p:cNvPr id="7" name="Text 5"/>
          <p:cNvSpPr/>
          <p:nvPr/>
        </p:nvSpPr>
        <p:spPr>
          <a:xfrm>
            <a:off x="434340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Chemical Analysis</a:t>
            </a:r>
            <a:endParaRPr lang="en-US" sz="3400" dirty="0"/>
          </a:p>
        </p:txBody>
      </p:sp>
      <p:sp>
        <p:nvSpPr>
          <p:cNvPr id="8" name="Text 6"/>
          <p:cNvSpPr/>
          <p:nvPr/>
        </p:nvSpPr>
        <p:spPr>
          <a:xfrm>
            <a:off x="434340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Examining changes in chemical composition.</a:t>
            </a:r>
            <a:endParaRPr lang="en-US" sz="1300" dirty="0"/>
          </a:p>
        </p:txBody>
      </p:sp>
      <p:sp>
        <p:nvSpPr>
          <p:cNvPr id="9" name="Shape 7"/>
          <p:cNvSpPr/>
          <p:nvPr/>
        </p:nvSpPr>
        <p:spPr>
          <a:xfrm>
            <a:off x="7955280" y="1645920"/>
            <a:ext cx="3291840" cy="2011680"/>
          </a:xfrm>
          <a:prstGeom prst="rect">
            <a:avLst>
              <a:gd name="adj" fmla="val 2273"/>
            </a:avLst>
          </a:prstGeom>
          <a:solidFill>
            <a:srgbClr val="F5F5F5"/>
          </a:solidFill>
          <a:ln/>
        </p:spPr>
      </p:sp>
      <p:sp>
        <p:nvSpPr>
          <p:cNvPr id="10" name="Text 8"/>
          <p:cNvSpPr/>
          <p:nvPr/>
        </p:nvSpPr>
        <p:spPr>
          <a:xfrm>
            <a:off x="795528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Microbial Activity</a:t>
            </a:r>
            <a:endParaRPr lang="en-US" sz="3400" dirty="0"/>
          </a:p>
        </p:txBody>
      </p:sp>
      <p:sp>
        <p:nvSpPr>
          <p:cNvPr id="11" name="Text 9"/>
          <p:cNvSpPr/>
          <p:nvPr/>
        </p:nvSpPr>
        <p:spPr>
          <a:xfrm>
            <a:off x="795528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Observing microbial population dynamics.</a:t>
            </a:r>
            <a:endParaRPr lang="en-US" sz="1300" dirty="0"/>
          </a:p>
        </p:txBody>
      </p:sp>
      <p:sp>
        <p:nvSpPr>
          <p:cNvPr id="12" name="Text 10"/>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13" name="Text 11"/>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Decomposition and Environmental Changes</a:t>
            </a:r>
            <a:endParaRPr lang="en-US" sz="2600" dirty="0"/>
          </a:p>
        </p:txBody>
      </p:sp>
      <p:sp>
        <p:nvSpPr>
          <p:cNvPr id="3" name="Text 1"/>
          <p:cNvSpPr/>
          <p:nvPr/>
        </p:nvSpPr>
        <p:spPr>
          <a:xfrm>
            <a:off x="731520" y="2103120"/>
            <a:ext cx="5120640" cy="3840480"/>
          </a:xfrm>
          <a:prstGeom prst="rect">
            <a:avLst/>
          </a:prstGeom>
          <a:noFill/>
          <a:ln/>
        </p:spPr>
        <p:txBody>
          <a:bodyPr wrap="square" rtlCol="0" anchor="t"/>
          <a:lstStyle/>
          <a:p>
            <a:pPr indent="0" marL="0">
              <a:buNone/>
            </a:pPr>
            <a:r>
              <a:rPr lang="en-US" sz="1300" dirty="0">
                <a:solidFill>
                  <a:srgbClr val="3C3C3B"/>
                </a:solidFill>
                <a:latin typeface="Source Sans Pro" pitchFamily="34" charset="0"/>
                <a:ea typeface="Source Sans Pro" pitchFamily="34" charset="-122"/>
                <a:cs typeface="Source Sans Pro" pitchFamily="34" charset="-120"/>
              </a:rPr>
              <a:t>Understanding decomposition processes helps predict ecological changes and manage ecosystems effectively. By studying these processes, scientists can forecast the impacts of climate change on nutrient cycling and ecosystem health, aiding in conservation efforts.</a:t>
            </a:r>
            <a:endParaRPr lang="en-US" sz="1300" dirty="0"/>
          </a:p>
        </p:txBody>
      </p:sp>
      <p:sp>
        <p:nvSpPr>
          <p:cNvPr id="4" name="Text 2"/>
          <p:cNvSpPr/>
          <p:nvPr/>
        </p:nvSpPr>
        <p:spPr>
          <a:xfrm>
            <a:off x="6309360" y="2103120"/>
            <a:ext cx="5120640" cy="3840480"/>
          </a:xfrm>
          <a:prstGeom prst="rect">
            <a:avLst/>
          </a:prstGeom>
          <a:noFill/>
          <a:ln/>
        </p:spPr>
        <p:txBody>
          <a:bodyPr wrap="square" rtlCol="0" anchor="t"/>
          <a:lstStyle/>
          <a:p>
            <a:pPr indent="0" marL="0">
              <a:buNone/>
            </a:pPr>
            <a:endParaRPr lang="en-US" sz="1300" dirty="0"/>
          </a:p>
        </p:txBody>
      </p:sp>
      <p:sp>
        <p:nvSpPr>
          <p:cNvPr id="5" name="Text 3"/>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4"/>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286000"/>
            <a:ext cx="10360152" cy="914400"/>
          </a:xfrm>
          <a:prstGeom prst="rect">
            <a:avLst/>
          </a:prstGeom>
          <a:noFill/>
          <a:ln/>
        </p:spPr>
        <p:txBody>
          <a:bodyPr wrap="square" rtlCol="0" anchor="ctr"/>
          <a:lstStyle/>
          <a:p>
            <a:pPr algn="ctr" indent="0" marL="0">
              <a:buNone/>
            </a:pPr>
            <a:r>
              <a:rPr lang="en-US" sz="2800" b="1" dirty="0">
                <a:solidFill>
                  <a:srgbClr val="033778"/>
                </a:solidFill>
                <a:latin typeface="Source Sans Pro" pitchFamily="34" charset="0"/>
                <a:ea typeface="Source Sans Pro" pitchFamily="34" charset="-122"/>
                <a:cs typeface="Source Sans Pro" pitchFamily="34" charset="-120"/>
              </a:rPr>
              <a:t>Conclusion and Further Reading</a:t>
            </a:r>
            <a:endParaRPr lang="en-US" sz="2800" dirty="0"/>
          </a:p>
        </p:txBody>
      </p:sp>
      <p:sp>
        <p:nvSpPr>
          <p:cNvPr id="3" name="Text 1"/>
          <p:cNvSpPr/>
          <p:nvPr/>
        </p:nvSpPr>
        <p:spPr>
          <a:xfrm>
            <a:off x="2286000" y="3383280"/>
            <a:ext cx="7616952" cy="1828800"/>
          </a:xfrm>
          <a:prstGeom prst="rect">
            <a:avLst/>
          </a:prstGeom>
          <a:noFill/>
          <a:ln/>
        </p:spPr>
        <p:txBody>
          <a:bodyPr wrap="square" rtlCol="0" anchor="t"/>
          <a:lstStyle/>
          <a:p>
            <a:pPr algn="ctr" indent="0" marL="0">
              <a:buNone/>
            </a:pPr>
            <a:r>
              <a:rPr lang="en-US" sz="1400" dirty="0">
                <a:solidFill>
                  <a:srgbClr val="3C3C3B"/>
                </a:solidFill>
                <a:latin typeface="Source Sans Pro" pitchFamily="34" charset="0"/>
                <a:ea typeface="Source Sans Pro" pitchFamily="34" charset="-122"/>
                <a:cs typeface="Source Sans Pro" pitchFamily="34" charset="-120"/>
              </a:rPr>
              <a:t>Natural decomposition is vital for ecosystem health. It recycles nutrients, supports biodiversity, and maintains ecological balance. Further research can enhance our understanding of its ecological role, offering insights into sustainable environmental management.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Process of Natural Decomposition of Animals</dc:title>
  <dc:subject>PptxGenJS Presentation</dc:subject>
  <dc:creator>ERNI PPTX Generator</dc:creator>
  <cp:lastModifiedBy>ERNI PPTX Generator</cp:lastModifiedBy>
  <cp:revision>1</cp:revision>
  <dcterms:created xsi:type="dcterms:W3CDTF">2026-06-10T09:06:36Z</dcterms:created>
  <dcterms:modified xsi:type="dcterms:W3CDTF">2026-06-10T09:06:36Z</dcterms:modified>
</cp:coreProperties>
</file>